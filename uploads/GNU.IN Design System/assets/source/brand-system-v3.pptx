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nuMaster">
    <p:bg>
      <p:bgPr>
        <a:solidFill>
          <a:srgbClr val="11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0160">
            <a:solidFill>
              <a:srgbClr val="2A333A">
                <a:alpha val="7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65392"/>
            <a:ext cx="5029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7F8A8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Gnu.In-Shell · brand system v3 · canonical SVG integration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0241280" y="6565392"/>
            <a:ext cx="1463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7F8A8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Gnu.in Labs Inc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7F8A87"/>
                </a:solidFill>
                <a:latin typeface="Sora"/>
                <a:ea typeface="Sora"/>
                <a:cs typeface="Sora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7F8A87"/>
                </a:solidFill>
                <a:latin typeface="Sora"/>
                <a:ea typeface="Sora"/>
                <a:cs typeface="Sora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36118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40233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3200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7315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6118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40233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27889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3000" y="32004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3000" y="60807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54480" y="27889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54480" y="32004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54480" y="60807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65960" y="19659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65960" y="23774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65960" y="52578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65960" y="56692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19659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7440" y="23774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77440" y="52578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77440" y="56692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88920" y="11430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88920" y="15544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88920" y="44348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88920" y="48463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11430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15544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44348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0" y="48463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11880" y="3200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11880" y="7315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11880" y="36118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11880" y="40233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23360" y="3200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23360" y="7315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023360" y="36118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023360" y="40233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34840" y="27889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34840" y="32004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34840" y="60807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46320" y="27889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46320" y="32004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46320" y="60807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257800" y="19659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257800" y="23774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257800" y="52578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257800" y="56692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669280" y="19659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669280" y="23774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669280" y="52578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669280" y="56692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080760" y="11430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080760" y="15544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080760" y="44348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080760" y="48463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92240" y="11430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492240" y="15544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492240" y="44348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492240" y="48463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903720" y="3200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903720" y="7315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903720" y="36118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903720" y="40233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315200" y="3200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315200" y="7315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315200" y="36118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315200" y="40233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726680" y="27889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726680" y="32004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26680" y="60807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138160" y="27889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138160" y="32004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138160" y="60807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549640" y="19659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549640" y="23774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549640" y="52578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549640" y="56692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961120" y="19659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961120" y="23774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961120" y="52578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961120" y="56692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372600" y="19659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372600" y="23774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372600" y="52578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372600" y="56692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784080" y="11430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784080" y="15544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784080" y="44348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784080" y="48463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195560" y="11430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195560" y="15544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0195560" y="44348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0195560" y="48463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0607040" y="3200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0607040" y="7315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0607040" y="36118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607040" y="40233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1018520" y="3200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1018520" y="7315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1018520" y="36118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1018520" y="40233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1430000" y="27889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1430000" y="32004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1430000" y="60807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1841480" y="27889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1841480" y="32004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1841480" y="60807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58368" y="5303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6A0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GNU.IN LABS INC · PRODUCT NARRATIVE</a:t>
            </a:r>
            <a:endParaRPr lang="en-US" sz="750" dirty="0"/>
          </a:p>
        </p:txBody>
      </p:sp>
      <p:sp>
        <p:nvSpPr>
          <p:cNvPr id="111" name="Text 109"/>
          <p:cNvSpPr/>
          <p:nvPr/>
        </p:nvSpPr>
        <p:spPr>
          <a:xfrm>
            <a:off x="640080" y="786384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F7F3E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Gnu.In-Shell</a:t>
            </a:r>
            <a:endParaRPr lang="en-US" sz="4700" dirty="0"/>
          </a:p>
        </p:txBody>
      </p:sp>
      <p:sp>
        <p:nvSpPr>
          <p:cNvPr id="112" name="Text 110"/>
          <p:cNvSpPr/>
          <p:nvPr/>
        </p:nvSpPr>
        <p:spPr>
          <a:xfrm>
            <a:off x="640080" y="1746504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320" dirty="0">
                <a:solidFill>
                  <a:srgbClr val="AEB5B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OS+ shell experience for Arch/Hyprland, rendered through Quickshell and driven by live reactive design contracts.</a:t>
            </a:r>
            <a:endParaRPr lang="en-US" sz="1320" dirty="0"/>
          </a:p>
        </p:txBody>
      </p:sp>
      <p:sp>
        <p:nvSpPr>
          <p:cNvPr id="113" name="Shape 111"/>
          <p:cNvSpPr/>
          <p:nvPr/>
        </p:nvSpPr>
        <p:spPr>
          <a:xfrm>
            <a:off x="694944" y="2798064"/>
            <a:ext cx="1572768" cy="329184"/>
          </a:xfrm>
          <a:prstGeom prst="roundRect">
            <a:avLst>
              <a:gd name="adj" fmla="val 33333"/>
            </a:avLst>
          </a:prstGeom>
          <a:solidFill>
            <a:srgbClr val="FF6A00"/>
          </a:solidFill>
          <a:ln w="10160">
            <a:solidFill>
              <a:srgbClr val="FF6A0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694944" y="2884932"/>
            <a:ext cx="15727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114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canonical main SVG</a:t>
            </a:r>
            <a:endParaRPr lang="en-US" sz="730" dirty="0"/>
          </a:p>
        </p:txBody>
      </p:sp>
      <p:sp>
        <p:nvSpPr>
          <p:cNvPr id="115" name="Shape 113"/>
          <p:cNvSpPr/>
          <p:nvPr/>
        </p:nvSpPr>
        <p:spPr>
          <a:xfrm>
            <a:off x="2395728" y="2798064"/>
            <a:ext cx="1444752" cy="329184"/>
          </a:xfrm>
          <a:prstGeom prst="roundRect">
            <a:avLst>
              <a:gd name="adj" fmla="val 33333"/>
            </a:avLst>
          </a:prstGeom>
          <a:solidFill>
            <a:srgbClr val="1E242B"/>
          </a:solidFill>
          <a:ln w="10160">
            <a:solidFill>
              <a:srgbClr val="2A333A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2395728" y="2884932"/>
            <a:ext cx="1444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7F3E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mini Sys.ter SVGs</a:t>
            </a:r>
            <a:endParaRPr lang="en-US" sz="730" dirty="0"/>
          </a:p>
        </p:txBody>
      </p:sp>
      <p:sp>
        <p:nvSpPr>
          <p:cNvPr id="117" name="Shape 115"/>
          <p:cNvSpPr/>
          <p:nvPr/>
        </p:nvSpPr>
        <p:spPr>
          <a:xfrm>
            <a:off x="3968496" y="2798064"/>
            <a:ext cx="1627632" cy="329184"/>
          </a:xfrm>
          <a:prstGeom prst="roundRect">
            <a:avLst>
              <a:gd name="adj" fmla="val 33333"/>
            </a:avLst>
          </a:prstGeom>
          <a:solidFill>
            <a:srgbClr val="1E242B"/>
          </a:solidFill>
          <a:ln w="10160">
            <a:solidFill>
              <a:srgbClr val="2A333A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3968496" y="2884932"/>
            <a:ext cx="1627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7F3E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 generated mockups</a:t>
            </a:r>
            <a:endParaRPr lang="en-US" sz="730" dirty="0"/>
          </a:p>
        </p:txBody>
      </p:sp>
      <p:sp>
        <p:nvSpPr>
          <p:cNvPr id="119" name="Shape 117"/>
          <p:cNvSpPr/>
          <p:nvPr/>
        </p:nvSpPr>
        <p:spPr>
          <a:xfrm>
            <a:off x="6629400" y="621792"/>
            <a:ext cx="4873752" cy="5440680"/>
          </a:xfrm>
          <a:prstGeom prst="roundRect">
            <a:avLst>
              <a:gd name="adj" fmla="val 1689"/>
            </a:avLst>
          </a:prstGeom>
          <a:solidFill>
            <a:srgbClr val="FBFAF6"/>
          </a:solidFill>
          <a:ln w="12700">
            <a:solidFill>
              <a:srgbClr val="FBFAF6"/>
            </a:solidFill>
            <a:prstDash val="solid"/>
          </a:ln>
        </p:spPr>
      </p:sp>
      <p:pic>
        <p:nvPicPr>
          <p:cNvPr id="12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67728" y="841248"/>
            <a:ext cx="4297680" cy="4297680"/>
          </a:xfrm>
          <a:prstGeom prst="rect">
            <a:avLst/>
          </a:prstGeom>
        </p:spPr>
      </p:pic>
      <p:sp>
        <p:nvSpPr>
          <p:cNvPr id="121" name="Shape 118"/>
          <p:cNvSpPr/>
          <p:nvPr/>
        </p:nvSpPr>
        <p:spPr>
          <a:xfrm>
            <a:off x="694944" y="3749040"/>
            <a:ext cx="5166360" cy="1481328"/>
          </a:xfrm>
          <a:prstGeom prst="roundRect">
            <a:avLst>
              <a:gd name="adj" fmla="val 5556"/>
            </a:avLst>
          </a:prstGeom>
          <a:solidFill>
            <a:srgbClr val="0B0D0E"/>
          </a:solidFill>
          <a:ln w="12700">
            <a:solidFill>
              <a:srgbClr val="2A333A"/>
            </a:solidFill>
            <a:prstDash val="solid"/>
          </a:ln>
        </p:spPr>
      </p:sp>
      <p:sp>
        <p:nvSpPr>
          <p:cNvPr id="122" name="Text 119"/>
          <p:cNvSpPr/>
          <p:nvPr/>
        </p:nvSpPr>
        <p:spPr>
          <a:xfrm>
            <a:off x="932688" y="400507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6A00"/>
                </a:solidFill>
              </a:rPr>
              <a:t>Design principle</a:t>
            </a:r>
            <a:endParaRPr lang="en-US" sz="800" dirty="0"/>
          </a:p>
        </p:txBody>
      </p:sp>
      <p:sp>
        <p:nvSpPr>
          <p:cNvPr id="123" name="Text 120"/>
          <p:cNvSpPr/>
          <p:nvPr/>
        </p:nvSpPr>
        <p:spPr>
          <a:xfrm>
            <a:off x="932688" y="4297680"/>
            <a:ext cx="4526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7F3ED"/>
                </a:solidFill>
              </a:rPr>
              <a:t>One mascot, two scales: the main SVG owns hero/brand moments; the mini Sys.ter SVGs own UI frames, menu cards, trays, and motion-state samples.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7F8A87"/>
                </a:solidFill>
                <a:latin typeface="Sora"/>
                <a:ea typeface="Sora"/>
                <a:cs typeface="Sora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36118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40233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3200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7315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6118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40233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27889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3000" y="32004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3000" y="60807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54480" y="27889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54480" y="32004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54480" y="60807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65960" y="19659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65960" y="23774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65960" y="52578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65960" y="56692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19659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7440" y="23774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77440" y="52578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77440" y="56692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88920" y="11430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88920" y="15544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88920" y="44348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88920" y="48463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11430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15544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44348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0" y="48463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11880" y="3200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11880" y="7315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11880" y="36118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11880" y="40233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23360" y="3200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23360" y="7315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023360" y="36118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023360" y="40233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34840" y="27889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34840" y="32004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34840" y="60807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46320" y="27889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46320" y="32004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46320" y="60807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257800" y="19659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257800" y="23774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257800" y="52578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257800" y="56692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669280" y="19659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669280" y="23774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669280" y="52578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669280" y="56692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080760" y="11430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080760" y="15544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080760" y="44348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080760" y="48463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92240" y="11430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492240" y="15544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492240" y="44348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492240" y="48463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903720" y="3200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903720" y="7315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903720" y="36118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903720" y="40233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315200" y="3200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315200" y="7315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315200" y="36118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315200" y="40233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726680" y="27889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726680" y="32004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26680" y="60807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138160" y="27889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138160" y="32004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138160" y="60807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549640" y="19659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549640" y="23774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549640" y="52578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549640" y="56692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961120" y="19659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961120" y="23774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961120" y="52578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961120" y="56692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372600" y="19659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372600" y="23774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372600" y="52578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372600" y="56692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784080" y="11430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784080" y="15544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784080" y="44348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784080" y="48463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195560" y="11430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195560" y="15544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0195560" y="44348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0195560" y="48463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0607040" y="3200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0607040" y="7315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0607040" y="36118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607040" y="40233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1018520" y="3200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1018520" y="7315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1018520" y="36118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1018520" y="40233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1430000" y="27889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1430000" y="32004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1430000" y="60807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1841480" y="27889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1841480" y="32004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1841480" y="60807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58368" y="5303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6A0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ASSET HIERARCHY</a:t>
            </a:r>
            <a:endParaRPr lang="en-US" sz="750" dirty="0"/>
          </a:p>
        </p:txBody>
      </p:sp>
      <p:sp>
        <p:nvSpPr>
          <p:cNvPr id="111" name="Text 109"/>
          <p:cNvSpPr/>
          <p:nvPr/>
        </p:nvSpPr>
        <p:spPr>
          <a:xfrm>
            <a:off x="640080" y="786384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1114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Source of truth, not a placeholder</a:t>
            </a:r>
            <a:endParaRPr lang="en-US" sz="3300" dirty="0"/>
          </a:p>
        </p:txBody>
      </p:sp>
      <p:sp>
        <p:nvSpPr>
          <p:cNvPr id="112" name="Text 110"/>
          <p:cNvSpPr/>
          <p:nvPr/>
        </p:nvSpPr>
        <p:spPr>
          <a:xfrm>
            <a:off x="640080" y="1536192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862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old generated mockup layer is removed from the presentation system. This v3 uses the new master SVG as the brand anchor, with mini Sys.ter masters reserved for smaller frames.</a:t>
            </a:r>
            <a:endParaRPr lang="en-US" sz="1200" dirty="0"/>
          </a:p>
        </p:txBody>
      </p:sp>
      <p:sp>
        <p:nvSpPr>
          <p:cNvPr id="113" name="Shape 111"/>
          <p:cNvSpPr/>
          <p:nvPr/>
        </p:nvSpPr>
        <p:spPr>
          <a:xfrm>
            <a:off x="713232" y="2240280"/>
            <a:ext cx="475488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960120" y="2523744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6A00"/>
                </a:solidFill>
              </a:rPr>
              <a:t>MAIN</a:t>
            </a:r>
            <a:endParaRPr lang="en-US" sz="800" dirty="0"/>
          </a:p>
        </p:txBody>
      </p:sp>
      <p:pic>
        <p:nvPicPr>
          <p:cNvPr id="1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54480" y="2423160"/>
            <a:ext cx="2606040" cy="2606040"/>
          </a:xfrm>
          <a:prstGeom prst="rect">
            <a:avLst/>
          </a:prstGeom>
        </p:spPr>
      </p:pic>
      <p:sp>
        <p:nvSpPr>
          <p:cNvPr id="116" name="Text 113"/>
          <p:cNvSpPr/>
          <p:nvPr/>
        </p:nvSpPr>
        <p:spPr>
          <a:xfrm>
            <a:off x="969264" y="5065776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418"/>
                </a:solidFill>
              </a:rPr>
              <a:t>Hero slides · product covers · story openers · canonical brand proof.</a:t>
            </a:r>
            <a:endParaRPr lang="en-US" sz="1050" dirty="0"/>
          </a:p>
        </p:txBody>
      </p:sp>
      <p:sp>
        <p:nvSpPr>
          <p:cNvPr id="117" name="Shape 114"/>
          <p:cNvSpPr/>
          <p:nvPr/>
        </p:nvSpPr>
        <p:spPr>
          <a:xfrm>
            <a:off x="5715000" y="2240280"/>
            <a:ext cx="571500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118" name="Text 115"/>
          <p:cNvSpPr/>
          <p:nvPr/>
        </p:nvSpPr>
        <p:spPr>
          <a:xfrm>
            <a:off x="6016752" y="2523744"/>
            <a:ext cx="1298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6A00"/>
                </a:solidFill>
              </a:rPr>
              <a:t>MINI SYSTER</a:t>
            </a:r>
            <a:endParaRPr lang="en-US" sz="800" dirty="0"/>
          </a:p>
        </p:txBody>
      </p:sp>
      <p:pic>
        <p:nvPicPr>
          <p:cNvPr id="1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3056" y="2871216"/>
            <a:ext cx="1389888" cy="1389888"/>
          </a:xfrm>
          <a:prstGeom prst="rect">
            <a:avLst/>
          </a:prstGeom>
        </p:spPr>
      </p:pic>
      <p:pic>
        <p:nvPicPr>
          <p:cNvPr id="1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34656" y="2871216"/>
            <a:ext cx="1389888" cy="1389888"/>
          </a:xfrm>
          <a:prstGeom prst="rect">
            <a:avLst/>
          </a:prstGeom>
        </p:spPr>
      </p:pic>
      <p:pic>
        <p:nvPicPr>
          <p:cNvPr id="1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06256" y="2871216"/>
            <a:ext cx="1389888" cy="1389888"/>
          </a:xfrm>
          <a:prstGeom prst="rect">
            <a:avLst/>
          </a:prstGeom>
        </p:spPr>
      </p:pic>
      <p:sp>
        <p:nvSpPr>
          <p:cNvPr id="122" name="Text 116"/>
          <p:cNvSpPr/>
          <p:nvPr/>
        </p:nvSpPr>
        <p:spPr>
          <a:xfrm>
            <a:off x="6016752" y="5065776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418"/>
                </a:solidFill>
              </a:rPr>
              <a:t>Small frames · UI menu headers · state buttons · app icons · density demos.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7F8A87"/>
                </a:solidFill>
                <a:latin typeface="Sora"/>
                <a:ea typeface="Sora"/>
                <a:cs typeface="Sora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36118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40233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3200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7315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6118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40233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27889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3000" y="32004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3000" y="60807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54480" y="27889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54480" y="32004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54480" y="60807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65960" y="19659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65960" y="23774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65960" y="52578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65960" y="56692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19659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7440" y="23774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77440" y="52578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77440" y="56692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88920" y="11430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88920" y="15544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88920" y="44348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88920" y="48463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11430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15544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44348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0" y="48463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11880" y="3200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11880" y="7315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11880" y="36118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11880" y="40233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23360" y="3200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23360" y="7315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023360" y="36118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023360" y="40233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34840" y="27889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34840" y="32004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34840" y="60807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46320" y="27889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46320" y="32004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46320" y="60807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257800" y="19659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257800" y="23774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257800" y="52578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257800" y="56692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669280" y="19659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669280" y="23774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669280" y="52578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669280" y="56692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080760" y="11430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080760" y="15544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080760" y="44348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080760" y="48463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92240" y="11430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492240" y="15544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492240" y="44348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492240" y="48463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903720" y="3200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903720" y="7315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903720" y="36118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903720" y="40233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315200" y="3200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315200" y="7315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315200" y="36118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315200" y="40233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726680" y="27889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726680" y="32004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26680" y="60807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138160" y="27889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138160" y="32004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138160" y="60807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549640" y="19659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549640" y="23774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549640" y="52578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549640" y="56692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961120" y="19659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961120" y="23774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961120" y="52578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961120" y="56692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372600" y="19659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372600" y="23774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372600" y="52578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372600" y="56692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784080" y="11430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784080" y="15544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784080" y="44348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784080" y="48463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195560" y="11430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195560" y="15544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0195560" y="44348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0195560" y="48463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0607040" y="3200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0607040" y="7315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0607040" y="36118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607040" y="40233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1018520" y="3200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1018520" y="7315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1018520" y="36118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1018520" y="40233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1430000" y="27889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1430000" y="32004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1430000" y="60807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1841480" y="27889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1841480" y="32004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1841480" y="60807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58368" y="5303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6A0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NAMING / PRODUCT STRUCTURE</a:t>
            </a:r>
            <a:endParaRPr lang="en-US" sz="750" dirty="0"/>
          </a:p>
        </p:txBody>
      </p:sp>
      <p:sp>
        <p:nvSpPr>
          <p:cNvPr id="111" name="Text 109"/>
          <p:cNvSpPr/>
          <p:nvPr/>
        </p:nvSpPr>
        <p:spPr>
          <a:xfrm>
            <a:off x="640080" y="786384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7F3E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Gnu.in is the lab. Gnu.In-Shell is the OS+.</a:t>
            </a:r>
            <a:endParaRPr lang="en-US" sz="3400" dirty="0"/>
          </a:p>
        </p:txBody>
      </p:sp>
      <p:sp>
        <p:nvSpPr>
          <p:cNvPr id="112" name="Text 110"/>
          <p:cNvSpPr/>
          <p:nvPr/>
        </p:nvSpPr>
        <p:spPr>
          <a:xfrm>
            <a:off x="640080" y="153619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B5B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GNU6 remains the cloud/on-demand/service layer. The shell identity keeps the terminal creature close to the user: local, reactive, agent-ready.</a:t>
            </a:r>
            <a:endParaRPr lang="en-US" sz="1200" dirty="0"/>
          </a:p>
        </p:txBody>
      </p:sp>
      <p:sp>
        <p:nvSpPr>
          <p:cNvPr id="113" name="Shape 111"/>
          <p:cNvSpPr/>
          <p:nvPr/>
        </p:nvSpPr>
        <p:spPr>
          <a:xfrm>
            <a:off x="749808" y="2651760"/>
            <a:ext cx="3310128" cy="2267712"/>
          </a:xfrm>
          <a:prstGeom prst="roundRect">
            <a:avLst>
              <a:gd name="adj" fmla="val 3629"/>
            </a:avLst>
          </a:prstGeom>
          <a:solidFill>
            <a:srgbClr val="171B20"/>
          </a:solidFill>
          <a:ln w="12700">
            <a:solidFill>
              <a:srgbClr val="2A333A"/>
            </a:solidFill>
            <a:prstDash val="solid"/>
          </a:ln>
        </p:spPr>
      </p:sp>
      <p:pic>
        <p:nvPicPr>
          <p:cNvPr id="1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852928"/>
            <a:ext cx="658368" cy="658368"/>
          </a:xfrm>
          <a:prstGeom prst="rect">
            <a:avLst/>
          </a:prstGeom>
        </p:spPr>
      </p:pic>
      <p:sp>
        <p:nvSpPr>
          <p:cNvPr id="115" name="Text 112"/>
          <p:cNvSpPr/>
          <p:nvPr/>
        </p:nvSpPr>
        <p:spPr>
          <a:xfrm>
            <a:off x="1682496" y="29077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3ED"/>
                </a:solidFill>
              </a:rPr>
              <a:t>Gnu.in Labs Inc</a:t>
            </a:r>
            <a:endParaRPr lang="en-US" sz="1500" dirty="0"/>
          </a:p>
        </p:txBody>
      </p:sp>
      <p:sp>
        <p:nvSpPr>
          <p:cNvPr id="116" name="Text 113"/>
          <p:cNvSpPr/>
          <p:nvPr/>
        </p:nvSpPr>
        <p:spPr>
          <a:xfrm>
            <a:off x="1060704" y="3703320"/>
            <a:ext cx="2697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EB5B2"/>
                </a:solidFill>
              </a:rPr>
              <a:t>Founder/brand guarantor. Product stewardship, design language, implementation covenant.</a:t>
            </a:r>
            <a:endParaRPr lang="en-US" sz="1050" dirty="0"/>
          </a:p>
        </p:txBody>
      </p:sp>
      <p:sp>
        <p:nvSpPr>
          <p:cNvPr id="117" name="Shape 114"/>
          <p:cNvSpPr/>
          <p:nvPr/>
        </p:nvSpPr>
        <p:spPr>
          <a:xfrm>
            <a:off x="4517136" y="2651760"/>
            <a:ext cx="3310128" cy="2267712"/>
          </a:xfrm>
          <a:prstGeom prst="roundRect">
            <a:avLst>
              <a:gd name="adj" fmla="val 3629"/>
            </a:avLst>
          </a:prstGeom>
          <a:solidFill>
            <a:srgbClr val="1E242B"/>
          </a:solidFill>
          <a:ln w="12700">
            <a:solidFill>
              <a:srgbClr val="FF6A00"/>
            </a:solidFill>
            <a:prstDash val="solid"/>
          </a:ln>
        </p:spPr>
      </p:sp>
      <p:pic>
        <p:nvPicPr>
          <p:cNvPr id="1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81728" y="2852928"/>
            <a:ext cx="658368" cy="658368"/>
          </a:xfrm>
          <a:prstGeom prst="rect">
            <a:avLst/>
          </a:prstGeom>
        </p:spPr>
      </p:pic>
      <p:sp>
        <p:nvSpPr>
          <p:cNvPr id="119" name="Text 115"/>
          <p:cNvSpPr/>
          <p:nvPr/>
        </p:nvSpPr>
        <p:spPr>
          <a:xfrm>
            <a:off x="5449824" y="29077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3ED"/>
                </a:solidFill>
              </a:rPr>
              <a:t>Gnu.In-Shell</a:t>
            </a:r>
            <a:endParaRPr lang="en-US" sz="1500" dirty="0"/>
          </a:p>
        </p:txBody>
      </p:sp>
      <p:sp>
        <p:nvSpPr>
          <p:cNvPr id="120" name="Text 116"/>
          <p:cNvSpPr/>
          <p:nvPr/>
        </p:nvSpPr>
        <p:spPr>
          <a:xfrm>
            <a:off x="4828032" y="3703320"/>
            <a:ext cx="2697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EB5B2"/>
                </a:solidFill>
              </a:rPr>
              <a:t>Arch/Hyprland OS+ shell experience: menus, visuals, previews, and system-level live editing.</a:t>
            </a:r>
            <a:endParaRPr lang="en-US" sz="1050" dirty="0"/>
          </a:p>
        </p:txBody>
      </p:sp>
      <p:sp>
        <p:nvSpPr>
          <p:cNvPr id="121" name="Shape 117"/>
          <p:cNvSpPr/>
          <p:nvPr/>
        </p:nvSpPr>
        <p:spPr>
          <a:xfrm>
            <a:off x="8284464" y="2651760"/>
            <a:ext cx="3310128" cy="2267712"/>
          </a:xfrm>
          <a:prstGeom prst="roundRect">
            <a:avLst>
              <a:gd name="adj" fmla="val 3629"/>
            </a:avLst>
          </a:prstGeom>
          <a:solidFill>
            <a:srgbClr val="171B20"/>
          </a:solidFill>
          <a:ln w="12700">
            <a:solidFill>
              <a:srgbClr val="2A333A"/>
            </a:solidFill>
            <a:prstDash val="solid"/>
          </a:ln>
        </p:spPr>
      </p:sp>
      <p:pic>
        <p:nvPicPr>
          <p:cNvPr id="1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49056" y="2852928"/>
            <a:ext cx="658368" cy="658368"/>
          </a:xfrm>
          <a:prstGeom prst="rect">
            <a:avLst/>
          </a:prstGeom>
        </p:spPr>
      </p:pic>
      <p:sp>
        <p:nvSpPr>
          <p:cNvPr id="123" name="Text 118"/>
          <p:cNvSpPr/>
          <p:nvPr/>
        </p:nvSpPr>
        <p:spPr>
          <a:xfrm>
            <a:off x="9217152" y="29077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3ED"/>
                </a:solidFill>
              </a:rPr>
              <a:t>GNU6</a:t>
            </a:r>
            <a:endParaRPr lang="en-US" sz="1500" dirty="0"/>
          </a:p>
        </p:txBody>
      </p:sp>
      <p:sp>
        <p:nvSpPr>
          <p:cNvPr id="124" name="Text 119"/>
          <p:cNvSpPr/>
          <p:nvPr/>
        </p:nvSpPr>
        <p:spPr>
          <a:xfrm>
            <a:off x="8595360" y="3703320"/>
            <a:ext cx="2697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EB5B2"/>
                </a:solidFill>
              </a:rPr>
              <a:t>Cloud, web, on-demand, studio service layer. Kept separate from the local OS+ promise.</a:t>
            </a:r>
            <a:endParaRPr lang="en-US" sz="1050" dirty="0"/>
          </a:p>
        </p:txBody>
      </p:sp>
      <p:sp>
        <p:nvSpPr>
          <p:cNvPr id="125" name="Shape 120"/>
          <p:cNvSpPr/>
          <p:nvPr/>
        </p:nvSpPr>
        <p:spPr>
          <a:xfrm>
            <a:off x="4069080" y="3822192"/>
            <a:ext cx="475488" cy="0"/>
          </a:xfrm>
          <a:prstGeom prst="line">
            <a:avLst/>
          </a:prstGeom>
          <a:noFill/>
          <a:ln w="19050">
            <a:solidFill>
              <a:srgbClr val="FF6A00"/>
            </a:solidFill>
            <a:prstDash val="solid"/>
            <a:headEnd type="none"/>
            <a:tailEnd type="triangle"/>
          </a:ln>
        </p:spPr>
      </p:sp>
      <p:sp>
        <p:nvSpPr>
          <p:cNvPr id="126" name="Shape 121"/>
          <p:cNvSpPr/>
          <p:nvPr/>
        </p:nvSpPr>
        <p:spPr>
          <a:xfrm>
            <a:off x="7818120" y="3822192"/>
            <a:ext cx="475488" cy="0"/>
          </a:xfrm>
          <a:prstGeom prst="line">
            <a:avLst/>
          </a:prstGeom>
          <a:noFill/>
          <a:ln w="19050">
            <a:solidFill>
              <a:srgbClr val="FF6A00"/>
            </a:solidFill>
            <a:prstDash val="solid"/>
            <a:headEnd type="none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7F8A87"/>
                </a:solidFill>
                <a:latin typeface="Sora"/>
                <a:ea typeface="Sora"/>
                <a:cs typeface="Sora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36118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40233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3200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7315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6118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40233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27889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3000" y="32004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3000" y="60807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54480" y="27889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54480" y="32004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54480" y="60807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65960" y="19659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65960" y="23774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65960" y="52578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65960" y="56692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19659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7440" y="23774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77440" y="52578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77440" y="56692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88920" y="11430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88920" y="15544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88920" y="44348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88920" y="48463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11430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15544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44348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0" y="48463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11880" y="3200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11880" y="7315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11880" y="36118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11880" y="40233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23360" y="3200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23360" y="7315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023360" y="36118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023360" y="40233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34840" y="27889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34840" y="32004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34840" y="60807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46320" y="27889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46320" y="32004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46320" y="60807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257800" y="19659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257800" y="23774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257800" y="52578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257800" y="56692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669280" y="19659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669280" y="23774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669280" y="52578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669280" y="56692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080760" y="11430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080760" y="15544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080760" y="44348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080760" y="48463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92240" y="11430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492240" y="15544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492240" y="44348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492240" y="48463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903720" y="3200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903720" y="7315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903720" y="36118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903720" y="40233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315200" y="3200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315200" y="7315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315200" y="36118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315200" y="40233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726680" y="27889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726680" y="32004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26680" y="60807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138160" y="27889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138160" y="32004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138160" y="60807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549640" y="19659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549640" y="23774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549640" y="52578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549640" y="56692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961120" y="19659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961120" y="23774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961120" y="52578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961120" y="56692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372600" y="19659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372600" y="23774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372600" y="52578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372600" y="56692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784080" y="11430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784080" y="15544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784080" y="44348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784080" y="48463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195560" y="11430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195560" y="15544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0195560" y="44348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0195560" y="48463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0607040" y="3200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0607040" y="7315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0607040" y="36118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607040" y="40233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1018520" y="3200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1018520" y="7315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1018520" y="36118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1018520" y="40233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1430000" y="27889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1430000" y="32004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1430000" y="60807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1841480" y="27889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1841480" y="32004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1841480" y="60807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58368" y="5303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6A0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IMPLEMENTATION FRAME</a:t>
            </a:r>
            <a:endParaRPr lang="en-US" sz="750" dirty="0"/>
          </a:p>
        </p:txBody>
      </p:sp>
      <p:sp>
        <p:nvSpPr>
          <p:cNvPr id="111" name="Text 109"/>
          <p:cNvSpPr/>
          <p:nvPr/>
        </p:nvSpPr>
        <p:spPr>
          <a:xfrm>
            <a:off x="640080" y="786384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7F3E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Live UI/UX editor for the whole system</a:t>
            </a:r>
            <a:endParaRPr lang="en-US" sz="3200" dirty="0"/>
          </a:p>
        </p:txBody>
      </p:sp>
      <p:sp>
        <p:nvSpPr>
          <p:cNvPr id="112" name="Text 110"/>
          <p:cNvSpPr/>
          <p:nvPr/>
        </p:nvSpPr>
        <p:spPr>
          <a:xfrm>
            <a:off x="640080" y="1536192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B5B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 Quickshell-driven visual runtime that can be tuned while running: density, state, shader, context, and agentic sockets.</a:t>
            </a:r>
            <a:endParaRPr lang="en-US" sz="1200" dirty="0"/>
          </a:p>
        </p:txBody>
      </p:sp>
      <p:sp>
        <p:nvSpPr>
          <p:cNvPr id="113" name="Shape 111"/>
          <p:cNvSpPr/>
          <p:nvPr/>
        </p:nvSpPr>
        <p:spPr>
          <a:xfrm>
            <a:off x="749808" y="2423160"/>
            <a:ext cx="3657600" cy="2834640"/>
          </a:xfrm>
          <a:prstGeom prst="roundRect">
            <a:avLst>
              <a:gd name="adj" fmla="val 2903"/>
            </a:avLst>
          </a:prstGeom>
          <a:solidFill>
            <a:srgbClr val="0B0D0E"/>
          </a:solidFill>
          <a:ln w="12700">
            <a:solidFill>
              <a:srgbClr val="2A333A"/>
            </a:solidFill>
            <a:prstDash val="solid"/>
          </a:ln>
        </p:spPr>
      </p:sp>
      <p:pic>
        <p:nvPicPr>
          <p:cNvPr id="1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99032" y="2578608"/>
            <a:ext cx="2359152" cy="2359152"/>
          </a:xfrm>
          <a:prstGeom prst="rect">
            <a:avLst/>
          </a:prstGeom>
        </p:spPr>
      </p:pic>
      <p:sp>
        <p:nvSpPr>
          <p:cNvPr id="115" name="Shape 112"/>
          <p:cNvSpPr/>
          <p:nvPr/>
        </p:nvSpPr>
        <p:spPr>
          <a:xfrm>
            <a:off x="4617720" y="2423160"/>
            <a:ext cx="6675120" cy="2834640"/>
          </a:xfrm>
          <a:prstGeom prst="roundRect">
            <a:avLst>
              <a:gd name="adj" fmla="val 2903"/>
            </a:avLst>
          </a:prstGeom>
          <a:solidFill>
            <a:srgbClr val="171B20"/>
          </a:solidFill>
          <a:ln w="12700">
            <a:solidFill>
              <a:srgbClr val="2A333A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4919472" y="2724912"/>
            <a:ext cx="2606040" cy="749808"/>
          </a:xfrm>
          <a:prstGeom prst="roundRect">
            <a:avLst>
              <a:gd name="adj" fmla="val 10976"/>
            </a:avLst>
          </a:prstGeom>
          <a:solidFill>
            <a:srgbClr val="1E242B"/>
          </a:solidFill>
          <a:ln w="12700">
            <a:solidFill>
              <a:srgbClr val="2A333A"/>
            </a:solidFill>
            <a:prstDash val="solid"/>
          </a:ln>
        </p:spPr>
      </p:sp>
      <p:sp>
        <p:nvSpPr>
          <p:cNvPr id="117" name="Text 114"/>
          <p:cNvSpPr/>
          <p:nvPr/>
        </p:nvSpPr>
        <p:spPr>
          <a:xfrm>
            <a:off x="5084064" y="2880360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7F3ED"/>
                </a:solidFill>
              </a:rPr>
              <a:t>Arch / Hyprland</a:t>
            </a:r>
            <a:endParaRPr lang="en-US" sz="1150" dirty="0"/>
          </a:p>
        </p:txBody>
      </p:sp>
      <p:sp>
        <p:nvSpPr>
          <p:cNvPr id="118" name="Text 115"/>
          <p:cNvSpPr/>
          <p:nvPr/>
        </p:nvSpPr>
        <p:spPr>
          <a:xfrm>
            <a:off x="5084064" y="3127248"/>
            <a:ext cx="22677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AEB5B2"/>
                </a:solidFill>
              </a:rPr>
              <a:t>window, workspace, compositor state</a:t>
            </a:r>
            <a:endParaRPr lang="en-US" sz="750" dirty="0"/>
          </a:p>
        </p:txBody>
      </p:sp>
      <p:sp>
        <p:nvSpPr>
          <p:cNvPr id="119" name="Shape 116"/>
          <p:cNvSpPr/>
          <p:nvPr/>
        </p:nvSpPr>
        <p:spPr>
          <a:xfrm>
            <a:off x="7891272" y="2724912"/>
            <a:ext cx="2606040" cy="749808"/>
          </a:xfrm>
          <a:prstGeom prst="roundRect">
            <a:avLst>
              <a:gd name="adj" fmla="val 10976"/>
            </a:avLst>
          </a:prstGeom>
          <a:solidFill>
            <a:srgbClr val="2A333A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120" name="Text 117"/>
          <p:cNvSpPr/>
          <p:nvPr/>
        </p:nvSpPr>
        <p:spPr>
          <a:xfrm>
            <a:off x="8055864" y="2880360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7F3ED"/>
                </a:solidFill>
              </a:rPr>
              <a:t>Quickshell</a:t>
            </a:r>
            <a:endParaRPr lang="en-US" sz="1150" dirty="0"/>
          </a:p>
        </p:txBody>
      </p:sp>
      <p:sp>
        <p:nvSpPr>
          <p:cNvPr id="121" name="Text 118"/>
          <p:cNvSpPr/>
          <p:nvPr/>
        </p:nvSpPr>
        <p:spPr>
          <a:xfrm>
            <a:off x="8055864" y="3127248"/>
            <a:ext cx="22677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AEB5B2"/>
                </a:solidFill>
              </a:rPr>
              <a:t>physics + rendering surface</a:t>
            </a:r>
            <a:endParaRPr lang="en-US" sz="750" dirty="0"/>
          </a:p>
        </p:txBody>
      </p:sp>
      <p:sp>
        <p:nvSpPr>
          <p:cNvPr id="122" name="Shape 119"/>
          <p:cNvSpPr/>
          <p:nvPr/>
        </p:nvSpPr>
        <p:spPr>
          <a:xfrm>
            <a:off x="4919472" y="3840480"/>
            <a:ext cx="2606040" cy="749808"/>
          </a:xfrm>
          <a:prstGeom prst="roundRect">
            <a:avLst>
              <a:gd name="adj" fmla="val 10976"/>
            </a:avLst>
          </a:prstGeom>
          <a:solidFill>
            <a:srgbClr val="1E242B"/>
          </a:solidFill>
          <a:ln w="12700">
            <a:solidFill>
              <a:srgbClr val="2A333A"/>
            </a:solidFill>
            <a:prstDash val="solid"/>
          </a:ln>
        </p:spPr>
      </p:sp>
      <p:sp>
        <p:nvSpPr>
          <p:cNvPr id="123" name="Text 120"/>
          <p:cNvSpPr/>
          <p:nvPr/>
        </p:nvSpPr>
        <p:spPr>
          <a:xfrm>
            <a:off x="5084064" y="3995928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7F3ED"/>
                </a:solidFill>
              </a:rPr>
              <a:t>Reactive previews</a:t>
            </a:r>
            <a:endParaRPr lang="en-US" sz="1150" dirty="0"/>
          </a:p>
        </p:txBody>
      </p:sp>
      <p:sp>
        <p:nvSpPr>
          <p:cNvPr id="124" name="Text 121"/>
          <p:cNvSpPr/>
          <p:nvPr/>
        </p:nvSpPr>
        <p:spPr>
          <a:xfrm>
            <a:off x="5084064" y="4242816"/>
            <a:ext cx="22677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AEB5B2"/>
                </a:solidFill>
              </a:rPr>
              <a:t>live UI design contracts</a:t>
            </a:r>
            <a:endParaRPr lang="en-US" sz="750" dirty="0"/>
          </a:p>
        </p:txBody>
      </p:sp>
      <p:sp>
        <p:nvSpPr>
          <p:cNvPr id="125" name="Shape 122"/>
          <p:cNvSpPr/>
          <p:nvPr/>
        </p:nvSpPr>
        <p:spPr>
          <a:xfrm>
            <a:off x="7891272" y="3840480"/>
            <a:ext cx="2606040" cy="749808"/>
          </a:xfrm>
          <a:prstGeom prst="roundRect">
            <a:avLst>
              <a:gd name="adj" fmla="val 10976"/>
            </a:avLst>
          </a:prstGeom>
          <a:solidFill>
            <a:srgbClr val="1E242B"/>
          </a:solidFill>
          <a:ln w="12700">
            <a:solidFill>
              <a:srgbClr val="2A333A"/>
            </a:solidFill>
            <a:prstDash val="solid"/>
          </a:ln>
        </p:spPr>
      </p:sp>
      <p:sp>
        <p:nvSpPr>
          <p:cNvPr id="126" name="Text 123"/>
          <p:cNvSpPr/>
          <p:nvPr/>
        </p:nvSpPr>
        <p:spPr>
          <a:xfrm>
            <a:off x="8055864" y="3995928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7F3ED"/>
                </a:solidFill>
              </a:rPr>
              <a:t>Agentic sockets</a:t>
            </a:r>
            <a:endParaRPr lang="en-US" sz="1150" dirty="0"/>
          </a:p>
        </p:txBody>
      </p:sp>
      <p:sp>
        <p:nvSpPr>
          <p:cNvPr id="127" name="Text 124"/>
          <p:cNvSpPr/>
          <p:nvPr/>
        </p:nvSpPr>
        <p:spPr>
          <a:xfrm>
            <a:off x="8055864" y="4242816"/>
            <a:ext cx="22677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AEB5B2"/>
                </a:solidFill>
              </a:rPr>
              <a:t>talk directly to system affordances</a:t>
            </a:r>
            <a:endParaRPr lang="en-US" sz="750" dirty="0"/>
          </a:p>
        </p:txBody>
      </p:sp>
      <p:sp>
        <p:nvSpPr>
          <p:cNvPr id="128" name="Text 125"/>
          <p:cNvSpPr/>
          <p:nvPr/>
        </p:nvSpPr>
        <p:spPr>
          <a:xfrm>
            <a:off x="4956048" y="4736592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A00"/>
                </a:solidFill>
              </a:rPr>
              <a:t>The brand behaves like the product: modular, reactive, stateful.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7F8A87"/>
                </a:solidFill>
                <a:latin typeface="Sora"/>
                <a:ea typeface="Sora"/>
                <a:cs typeface="Sora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36118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40233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3200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7315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6118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40233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27889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3000" y="32004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3000" y="60807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54480" y="27889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54480" y="32004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54480" y="60807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65960" y="19659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65960" y="23774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65960" y="52578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65960" y="56692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19659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7440" y="23774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77440" y="52578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77440" y="56692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88920" y="11430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88920" y="15544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88920" y="44348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88920" y="48463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11430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15544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44348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0" y="48463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11880" y="3200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11880" y="7315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11880" y="36118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11880" y="40233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23360" y="3200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23360" y="7315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023360" y="36118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023360" y="40233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34840" y="27889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34840" y="32004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34840" y="60807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46320" y="27889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46320" y="32004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46320" y="60807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257800" y="19659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257800" y="23774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257800" y="52578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257800" y="56692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669280" y="19659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669280" y="23774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669280" y="52578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669280" y="56692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080760" y="11430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080760" y="15544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080760" y="44348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080760" y="48463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92240" y="11430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492240" y="15544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492240" y="44348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492240" y="48463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903720" y="3200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903720" y="7315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903720" y="36118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903720" y="40233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315200" y="3200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315200" y="7315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315200" y="36118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315200" y="40233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726680" y="27889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726680" y="32004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26680" y="60807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138160" y="27889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138160" y="32004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138160" y="60807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549640" y="19659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549640" y="23774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549640" y="52578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549640" y="56692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961120" y="19659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961120" y="23774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961120" y="52578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961120" y="56692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372600" y="19659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372600" y="23774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372600" y="52578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372600" y="56692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784080" y="11430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784080" y="15544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784080" y="44348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784080" y="48463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195560" y="11430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195560" y="15544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0195560" y="44348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0195560" y="48463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0607040" y="3200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0607040" y="7315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0607040" y="36118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607040" y="40233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1018520" y="3200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1018520" y="7315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1018520" y="36118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1018520" y="40233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1430000" y="27889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1430000" y="32004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1430000" y="60807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1841480" y="27889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1841480" y="32004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1841480" y="60807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58368" y="5303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6A0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STATE GRAMMAR</a:t>
            </a:r>
            <a:endParaRPr lang="en-US" sz="750" dirty="0"/>
          </a:p>
        </p:txBody>
      </p:sp>
      <p:sp>
        <p:nvSpPr>
          <p:cNvPr id="111" name="Text 109"/>
          <p:cNvSpPr/>
          <p:nvPr/>
        </p:nvSpPr>
        <p:spPr>
          <a:xfrm>
            <a:off x="640080" y="786384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114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Mini Sys.ter owns the small-motion alphabet</a:t>
            </a:r>
            <a:endParaRPr lang="en-US" sz="3100" dirty="0"/>
          </a:p>
        </p:txBody>
      </p:sp>
      <p:sp>
        <p:nvSpPr>
          <p:cNvPr id="112" name="Text 110"/>
          <p:cNvSpPr/>
          <p:nvPr/>
        </p:nvSpPr>
        <p:spPr>
          <a:xfrm>
            <a:off x="640080" y="153619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862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Small frames should use the mini masters. Motion can be authored as transforms, signal arcs, antenna pings, and sleep glyphs rather than replacing the symbol.</a:t>
            </a:r>
            <a:endParaRPr lang="en-US" sz="1200" dirty="0"/>
          </a:p>
        </p:txBody>
      </p:sp>
      <p:sp>
        <p:nvSpPr>
          <p:cNvPr id="113" name="Shape 111"/>
          <p:cNvSpPr/>
          <p:nvPr/>
        </p:nvSpPr>
        <p:spPr>
          <a:xfrm>
            <a:off x="694944" y="2340864"/>
            <a:ext cx="2468880" cy="31546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pic>
        <p:nvPicPr>
          <p:cNvPr id="1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3856" y="2651760"/>
            <a:ext cx="1572768" cy="1572768"/>
          </a:xfrm>
          <a:prstGeom prst="rect">
            <a:avLst/>
          </a:prstGeom>
        </p:spPr>
      </p:pic>
      <p:sp>
        <p:nvSpPr>
          <p:cNvPr id="115" name="Text 112"/>
          <p:cNvSpPr/>
          <p:nvPr/>
        </p:nvSpPr>
        <p:spPr>
          <a:xfrm>
            <a:off x="950976" y="46634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A00"/>
                </a:solidFill>
              </a:rPr>
              <a:t>IDLE</a:t>
            </a:r>
            <a:endParaRPr lang="en-US" sz="1000" dirty="0"/>
          </a:p>
        </p:txBody>
      </p:sp>
      <p:sp>
        <p:nvSpPr>
          <p:cNvPr id="116" name="Text 113"/>
          <p:cNvSpPr/>
          <p:nvPr/>
        </p:nvSpPr>
        <p:spPr>
          <a:xfrm>
            <a:off x="950976" y="495604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86260"/>
                </a:solidFill>
              </a:rPr>
              <a:t>Neutral: beret rested, antenna quiet.</a:t>
            </a:r>
            <a:endParaRPr lang="en-US" sz="850" dirty="0"/>
          </a:p>
        </p:txBody>
      </p:sp>
      <p:sp>
        <p:nvSpPr>
          <p:cNvPr id="117" name="Shape 114"/>
          <p:cNvSpPr/>
          <p:nvPr/>
        </p:nvSpPr>
        <p:spPr>
          <a:xfrm>
            <a:off x="3529584" y="2340864"/>
            <a:ext cx="2468880" cy="31546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pic>
        <p:nvPicPr>
          <p:cNvPr id="1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-240000">
            <a:off x="3968496" y="2606040"/>
            <a:ext cx="1572768" cy="1572768"/>
          </a:xfrm>
          <a:prstGeom prst="rect">
            <a:avLst/>
          </a:prstGeom>
        </p:spPr>
      </p:pic>
      <p:sp>
        <p:nvSpPr>
          <p:cNvPr id="119" name="Shape 115"/>
          <p:cNvSpPr/>
          <p:nvPr/>
        </p:nvSpPr>
        <p:spPr>
          <a:xfrm>
            <a:off x="5330952" y="2852928"/>
            <a:ext cx="475488" cy="658368"/>
          </a:xfrm>
          <a:prstGeom prst="arc">
            <a:avLst/>
          </a:prstGeom>
          <a:noFill/>
          <a:ln w="25400">
            <a:solidFill>
              <a:srgbClr val="FF6A00"/>
            </a:solidFill>
            <a:prstDash val="solid"/>
          </a:ln>
        </p:spPr>
      </p:sp>
      <p:sp>
        <p:nvSpPr>
          <p:cNvPr id="120" name="Shape 116"/>
          <p:cNvSpPr/>
          <p:nvPr/>
        </p:nvSpPr>
        <p:spPr>
          <a:xfrm>
            <a:off x="5495544" y="2761488"/>
            <a:ext cx="713232" cy="877824"/>
          </a:xfrm>
          <a:prstGeom prst="arc">
            <a:avLst/>
          </a:prstGeom>
          <a:noFill/>
          <a:ln w="20320">
            <a:solidFill>
              <a:srgbClr val="FF6A00">
                <a:alpha val="80000"/>
              </a:srgbClr>
            </a:solidFill>
            <a:prstDash val="solid"/>
          </a:ln>
        </p:spPr>
      </p:sp>
      <p:sp>
        <p:nvSpPr>
          <p:cNvPr id="121" name="Text 117"/>
          <p:cNvSpPr/>
          <p:nvPr/>
        </p:nvSpPr>
        <p:spPr>
          <a:xfrm>
            <a:off x="3785616" y="46634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A00"/>
                </a:solidFill>
              </a:rPr>
              <a:t>LISTENING</a:t>
            </a:r>
            <a:endParaRPr lang="en-US" sz="1000" dirty="0"/>
          </a:p>
        </p:txBody>
      </p:sp>
      <p:sp>
        <p:nvSpPr>
          <p:cNvPr id="122" name="Text 118"/>
          <p:cNvSpPr/>
          <p:nvPr/>
        </p:nvSpPr>
        <p:spPr>
          <a:xfrm>
            <a:off x="3785616" y="495604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86260"/>
                </a:solidFill>
              </a:rPr>
              <a:t>Signal arcs pulse from antenna.</a:t>
            </a:r>
            <a:endParaRPr lang="en-US" sz="850" dirty="0"/>
          </a:p>
        </p:txBody>
      </p:sp>
      <p:sp>
        <p:nvSpPr>
          <p:cNvPr id="123" name="Shape 119"/>
          <p:cNvSpPr/>
          <p:nvPr/>
        </p:nvSpPr>
        <p:spPr>
          <a:xfrm>
            <a:off x="6364224" y="2340864"/>
            <a:ext cx="2468880" cy="31546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pic>
        <p:nvPicPr>
          <p:cNvPr id="12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40000">
            <a:off x="6803136" y="2624328"/>
            <a:ext cx="1572768" cy="1572768"/>
          </a:xfrm>
          <a:prstGeom prst="rect">
            <a:avLst/>
          </a:prstGeom>
        </p:spPr>
      </p:pic>
      <p:sp>
        <p:nvSpPr>
          <p:cNvPr id="125" name="Shape 120"/>
          <p:cNvSpPr/>
          <p:nvPr/>
        </p:nvSpPr>
        <p:spPr>
          <a:xfrm>
            <a:off x="8165592" y="2852928"/>
            <a:ext cx="475488" cy="658368"/>
          </a:xfrm>
          <a:prstGeom prst="arc">
            <a:avLst/>
          </a:prstGeom>
          <a:noFill/>
          <a:ln w="25400">
            <a:solidFill>
              <a:srgbClr val="FF6A00"/>
            </a:solidFill>
            <a:prstDash val="solid"/>
          </a:ln>
        </p:spPr>
      </p:sp>
      <p:sp>
        <p:nvSpPr>
          <p:cNvPr id="126" name="Shape 121"/>
          <p:cNvSpPr/>
          <p:nvPr/>
        </p:nvSpPr>
        <p:spPr>
          <a:xfrm>
            <a:off x="8330184" y="2761488"/>
            <a:ext cx="713232" cy="877824"/>
          </a:xfrm>
          <a:prstGeom prst="arc">
            <a:avLst/>
          </a:prstGeom>
          <a:noFill/>
          <a:ln w="20320">
            <a:solidFill>
              <a:srgbClr val="FF6A00">
                <a:alpha val="80000"/>
              </a:srgbClr>
            </a:solidFill>
            <a:prstDash val="solid"/>
          </a:ln>
        </p:spPr>
      </p:sp>
      <p:sp>
        <p:nvSpPr>
          <p:cNvPr id="127" name="Text 122"/>
          <p:cNvSpPr/>
          <p:nvPr/>
        </p:nvSpPr>
        <p:spPr>
          <a:xfrm>
            <a:off x="6620256" y="46634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A00"/>
                </a:solidFill>
              </a:rPr>
              <a:t>TRANSMIT</a:t>
            </a:r>
            <a:endParaRPr lang="en-US" sz="1000" dirty="0"/>
          </a:p>
        </p:txBody>
      </p:sp>
      <p:sp>
        <p:nvSpPr>
          <p:cNvPr id="128" name="Text 123"/>
          <p:cNvSpPr/>
          <p:nvPr/>
        </p:nvSpPr>
        <p:spPr>
          <a:xfrm>
            <a:off x="6620256" y="495604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86260"/>
                </a:solidFill>
              </a:rPr>
              <a:t>Orange accent emits outward.</a:t>
            </a:r>
            <a:endParaRPr lang="en-US" sz="850" dirty="0"/>
          </a:p>
        </p:txBody>
      </p:sp>
      <p:sp>
        <p:nvSpPr>
          <p:cNvPr id="129" name="Shape 124"/>
          <p:cNvSpPr/>
          <p:nvPr/>
        </p:nvSpPr>
        <p:spPr>
          <a:xfrm>
            <a:off x="9198864" y="2340864"/>
            <a:ext cx="2468880" cy="31546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pic>
        <p:nvPicPr>
          <p:cNvPr id="13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37776" y="2688336"/>
            <a:ext cx="1572768" cy="1572768"/>
          </a:xfrm>
          <a:prstGeom prst="rect">
            <a:avLst/>
          </a:prstGeom>
        </p:spPr>
      </p:pic>
      <p:sp>
        <p:nvSpPr>
          <p:cNvPr id="131" name="Text 125"/>
          <p:cNvSpPr/>
          <p:nvPr/>
        </p:nvSpPr>
        <p:spPr>
          <a:xfrm>
            <a:off x="10972800" y="2788920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418"/>
                </a:solidFill>
              </a:rPr>
              <a:t>Zz</a:t>
            </a:r>
            <a:endParaRPr lang="en-US" sz="1600" dirty="0"/>
          </a:p>
        </p:txBody>
      </p:sp>
      <p:sp>
        <p:nvSpPr>
          <p:cNvPr id="132" name="Text 126"/>
          <p:cNvSpPr/>
          <p:nvPr/>
        </p:nvSpPr>
        <p:spPr>
          <a:xfrm>
            <a:off x="9454896" y="46634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A00"/>
                </a:solidFill>
              </a:rPr>
              <a:t>VEILLE</a:t>
            </a:r>
            <a:endParaRPr lang="en-US" sz="1000" dirty="0"/>
          </a:p>
        </p:txBody>
      </p:sp>
      <p:sp>
        <p:nvSpPr>
          <p:cNvPr id="133" name="Text 127"/>
          <p:cNvSpPr/>
          <p:nvPr/>
        </p:nvSpPr>
        <p:spPr>
          <a:xfrm>
            <a:off x="9454896" y="495604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86260"/>
                </a:solidFill>
              </a:rPr>
              <a:t>Sleep overlay, icon stays legible.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7F8A87"/>
                </a:solidFill>
                <a:latin typeface="Sora"/>
                <a:ea typeface="Sora"/>
                <a:cs typeface="Sora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36118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40233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3200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7315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6118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40233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27889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3000" y="32004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3000" y="60807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54480" y="27889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54480" y="32004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54480" y="60807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65960" y="19659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65960" y="23774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65960" y="52578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65960" y="56692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19659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7440" y="23774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77440" y="52578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77440" y="56692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88920" y="11430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88920" y="15544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88920" y="44348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88920" y="48463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11430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15544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44348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0" y="48463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11880" y="3200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11880" y="7315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11880" y="36118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11880" y="40233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23360" y="3200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23360" y="7315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023360" y="36118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023360" y="40233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34840" y="27889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34840" y="32004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34840" y="60807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46320" y="27889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46320" y="32004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46320" y="60807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257800" y="19659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257800" y="23774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257800" y="52578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257800" y="56692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669280" y="19659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669280" y="23774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669280" y="52578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669280" y="56692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080760" y="11430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080760" y="15544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080760" y="44348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080760" y="48463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92240" y="11430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492240" y="15544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492240" y="44348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492240" y="48463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903720" y="3200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903720" y="7315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903720" y="36118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903720" y="40233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315200" y="3200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315200" y="7315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315200" y="36118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315200" y="40233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726680" y="27889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726680" y="32004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26680" y="60807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138160" y="27889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138160" y="32004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138160" y="60807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549640" y="19659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549640" y="23774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549640" y="52578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549640" y="56692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961120" y="19659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961120" y="23774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961120" y="52578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961120" y="56692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372600" y="19659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372600" y="23774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372600" y="52578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372600" y="56692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784080" y="11430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784080" y="15544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784080" y="44348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784080" y="48463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195560" y="11430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195560" y="15544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0195560" y="44348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0195560" y="48463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0607040" y="3200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0607040" y="7315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0607040" y="36118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607040" y="40233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1018520" y="3200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1018520" y="7315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1018520" y="36118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1018520" y="40233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1430000" y="27889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1430000" y="32004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1430000" y="60807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1841480" y="27889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1841480" y="32004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1841480" y="60807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58368" y="5303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6A0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CONTEXT MENU SYSTEM</a:t>
            </a:r>
            <a:endParaRPr lang="en-US" sz="750" dirty="0"/>
          </a:p>
        </p:txBody>
      </p:sp>
      <p:sp>
        <p:nvSpPr>
          <p:cNvPr id="111" name="Text 109"/>
          <p:cNvSpPr/>
          <p:nvPr/>
        </p:nvSpPr>
        <p:spPr>
          <a:xfrm>
            <a:off x="640080" y="786384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7F3E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Menus are shell contracts, not loose popups</a:t>
            </a:r>
            <a:endParaRPr lang="en-US" sz="3200" dirty="0"/>
          </a:p>
        </p:txBody>
      </p:sp>
      <p:sp>
        <p:nvSpPr>
          <p:cNvPr id="112" name="Text 110"/>
          <p:cNvSpPr/>
          <p:nvPr/>
        </p:nvSpPr>
        <p:spPr>
          <a:xfrm>
            <a:off x="640080" y="1536192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B5B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mini Sys.ter is the compact identity stamp in UI frames. Menus can stay dense for mouse, expand for touch, and signal state without losing the CLI soul.</a:t>
            </a:r>
            <a:endParaRPr lang="en-US" sz="1200" dirty="0"/>
          </a:p>
        </p:txBody>
      </p:sp>
      <p:sp>
        <p:nvSpPr>
          <p:cNvPr id="113" name="Shape 111"/>
          <p:cNvSpPr/>
          <p:nvPr/>
        </p:nvSpPr>
        <p:spPr>
          <a:xfrm>
            <a:off x="749808" y="2176272"/>
            <a:ext cx="4800600" cy="3383280"/>
          </a:xfrm>
          <a:prstGeom prst="roundRect">
            <a:avLst>
              <a:gd name="adj" fmla="val 2432"/>
            </a:avLst>
          </a:prstGeom>
          <a:solidFill>
            <a:srgbClr val="0B0D0E"/>
          </a:solidFill>
          <a:ln w="12700">
            <a:solidFill>
              <a:srgbClr val="2A333A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024128" y="2542032"/>
            <a:ext cx="4251960" cy="2542032"/>
          </a:xfrm>
          <a:prstGeom prst="roundRect">
            <a:avLst>
              <a:gd name="adj" fmla="val 2878"/>
            </a:avLst>
          </a:prstGeom>
          <a:solidFill>
            <a:srgbClr val="111418"/>
          </a:solidFill>
          <a:ln w="12700">
            <a:solidFill>
              <a:srgbClr val="2A333A"/>
            </a:solidFill>
            <a:prstDash val="solid"/>
          </a:ln>
        </p:spPr>
      </p:sp>
      <p:pic>
        <p:nvPicPr>
          <p:cNvPr id="1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43584" y="2761488"/>
            <a:ext cx="658368" cy="658368"/>
          </a:xfrm>
          <a:prstGeom prst="rect">
            <a:avLst/>
          </a:prstGeom>
        </p:spPr>
      </p:pic>
      <p:sp>
        <p:nvSpPr>
          <p:cNvPr id="116" name="Text 113"/>
          <p:cNvSpPr/>
          <p:nvPr/>
        </p:nvSpPr>
        <p:spPr>
          <a:xfrm>
            <a:off x="1993392" y="28712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3ED"/>
                </a:solidFill>
              </a:rPr>
              <a:t>Right-click contract</a:t>
            </a:r>
            <a:endParaRPr lang="en-US" sz="1300" dirty="0"/>
          </a:p>
        </p:txBody>
      </p:sp>
      <p:sp>
        <p:nvSpPr>
          <p:cNvPr id="117" name="Shape 114"/>
          <p:cNvSpPr/>
          <p:nvPr/>
        </p:nvSpPr>
        <p:spPr>
          <a:xfrm>
            <a:off x="1261872" y="3273552"/>
            <a:ext cx="3566160" cy="274320"/>
          </a:xfrm>
          <a:prstGeom prst="roundRect">
            <a:avLst>
              <a:gd name="adj" fmla="val 16667"/>
            </a:avLst>
          </a:prstGeom>
          <a:solidFill>
            <a:srgbClr val="1E242B"/>
          </a:solidFill>
          <a:ln w="6350">
            <a:solidFill>
              <a:srgbClr val="2A333A"/>
            </a:solidFill>
            <a:prstDash val="solid"/>
          </a:ln>
        </p:spPr>
      </p:sp>
      <p:sp>
        <p:nvSpPr>
          <p:cNvPr id="118" name="Text 115"/>
          <p:cNvSpPr/>
          <p:nvPr/>
        </p:nvSpPr>
        <p:spPr>
          <a:xfrm>
            <a:off x="1444752" y="3355848"/>
            <a:ext cx="25146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7F3ED"/>
                </a:solidFill>
              </a:rPr>
              <a:t>Open shell editor</a:t>
            </a:r>
            <a:endParaRPr lang="en-US" sz="750" dirty="0"/>
          </a:p>
        </p:txBody>
      </p:sp>
      <p:sp>
        <p:nvSpPr>
          <p:cNvPr id="119" name="Text 116"/>
          <p:cNvSpPr/>
          <p:nvPr/>
        </p:nvSpPr>
        <p:spPr>
          <a:xfrm>
            <a:off x="4370832" y="3355848"/>
            <a:ext cx="5486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720" dirty="0"/>
          </a:p>
        </p:txBody>
      </p:sp>
      <p:sp>
        <p:nvSpPr>
          <p:cNvPr id="120" name="Shape 117"/>
          <p:cNvSpPr/>
          <p:nvPr/>
        </p:nvSpPr>
        <p:spPr>
          <a:xfrm>
            <a:off x="1261872" y="3657600"/>
            <a:ext cx="3566160" cy="274320"/>
          </a:xfrm>
          <a:prstGeom prst="roundRect">
            <a:avLst>
              <a:gd name="adj" fmla="val 16667"/>
            </a:avLst>
          </a:prstGeom>
          <a:solidFill>
            <a:srgbClr val="FF6A00"/>
          </a:solidFill>
          <a:ln w="6350">
            <a:solidFill>
              <a:srgbClr val="FF6A00"/>
            </a:solidFill>
            <a:prstDash val="solid"/>
          </a:ln>
        </p:spPr>
      </p:sp>
      <p:sp>
        <p:nvSpPr>
          <p:cNvPr id="121" name="Text 118"/>
          <p:cNvSpPr/>
          <p:nvPr/>
        </p:nvSpPr>
        <p:spPr>
          <a:xfrm>
            <a:off x="1444752" y="3739896"/>
            <a:ext cx="25146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11418"/>
                </a:solidFill>
              </a:rPr>
              <a:t>Arrange workspace</a:t>
            </a:r>
            <a:endParaRPr lang="en-US" sz="750" dirty="0"/>
          </a:p>
        </p:txBody>
      </p:sp>
      <p:sp>
        <p:nvSpPr>
          <p:cNvPr id="122" name="Text 119"/>
          <p:cNvSpPr/>
          <p:nvPr/>
        </p:nvSpPr>
        <p:spPr>
          <a:xfrm>
            <a:off x="4370832" y="3739896"/>
            <a:ext cx="5486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11418"/>
                </a:solidFill>
              </a:rPr>
              <a:t>⌘W</a:t>
            </a:r>
            <a:endParaRPr lang="en-US" sz="720" dirty="0"/>
          </a:p>
        </p:txBody>
      </p:sp>
      <p:sp>
        <p:nvSpPr>
          <p:cNvPr id="123" name="Shape 120"/>
          <p:cNvSpPr/>
          <p:nvPr/>
        </p:nvSpPr>
        <p:spPr>
          <a:xfrm>
            <a:off x="1261872" y="4041648"/>
            <a:ext cx="3566160" cy="274320"/>
          </a:xfrm>
          <a:prstGeom prst="roundRect">
            <a:avLst>
              <a:gd name="adj" fmla="val 16667"/>
            </a:avLst>
          </a:prstGeom>
          <a:solidFill>
            <a:srgbClr val="1E242B"/>
          </a:solidFill>
          <a:ln w="6350">
            <a:solidFill>
              <a:srgbClr val="2A333A"/>
            </a:solidFill>
            <a:prstDash val="solid"/>
          </a:ln>
        </p:spPr>
      </p:sp>
      <p:sp>
        <p:nvSpPr>
          <p:cNvPr id="124" name="Text 121"/>
          <p:cNvSpPr/>
          <p:nvPr/>
        </p:nvSpPr>
        <p:spPr>
          <a:xfrm>
            <a:off x="1444752" y="4123944"/>
            <a:ext cx="25146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7F3ED"/>
                </a:solidFill>
              </a:rPr>
              <a:t>Theme tokens</a:t>
            </a:r>
            <a:endParaRPr lang="en-US" sz="750" dirty="0"/>
          </a:p>
        </p:txBody>
      </p:sp>
      <p:sp>
        <p:nvSpPr>
          <p:cNvPr id="125" name="Text 122"/>
          <p:cNvSpPr/>
          <p:nvPr/>
        </p:nvSpPr>
        <p:spPr>
          <a:xfrm>
            <a:off x="4370832" y="4123944"/>
            <a:ext cx="5486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720" dirty="0"/>
          </a:p>
        </p:txBody>
      </p:sp>
      <p:sp>
        <p:nvSpPr>
          <p:cNvPr id="126" name="Shape 123"/>
          <p:cNvSpPr/>
          <p:nvPr/>
        </p:nvSpPr>
        <p:spPr>
          <a:xfrm>
            <a:off x="1261872" y="4425696"/>
            <a:ext cx="3566160" cy="274320"/>
          </a:xfrm>
          <a:prstGeom prst="roundRect">
            <a:avLst>
              <a:gd name="adj" fmla="val 16667"/>
            </a:avLst>
          </a:prstGeom>
          <a:solidFill>
            <a:srgbClr val="1E242B"/>
          </a:solidFill>
          <a:ln w="6350">
            <a:solidFill>
              <a:srgbClr val="2A333A"/>
            </a:solidFill>
            <a:prstDash val="solid"/>
          </a:ln>
        </p:spPr>
      </p:sp>
      <p:sp>
        <p:nvSpPr>
          <p:cNvPr id="127" name="Text 124"/>
          <p:cNvSpPr/>
          <p:nvPr/>
        </p:nvSpPr>
        <p:spPr>
          <a:xfrm>
            <a:off x="1444752" y="4507992"/>
            <a:ext cx="25146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7F3ED"/>
                </a:solidFill>
              </a:rPr>
              <a:t>Agent command bus</a:t>
            </a:r>
            <a:endParaRPr lang="en-US" sz="750" dirty="0"/>
          </a:p>
        </p:txBody>
      </p:sp>
      <p:sp>
        <p:nvSpPr>
          <p:cNvPr id="128" name="Text 125"/>
          <p:cNvSpPr/>
          <p:nvPr/>
        </p:nvSpPr>
        <p:spPr>
          <a:xfrm>
            <a:off x="4370832" y="4507992"/>
            <a:ext cx="5486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720" dirty="0"/>
          </a:p>
        </p:txBody>
      </p:sp>
      <p:sp>
        <p:nvSpPr>
          <p:cNvPr id="129" name="Shape 126"/>
          <p:cNvSpPr/>
          <p:nvPr/>
        </p:nvSpPr>
        <p:spPr>
          <a:xfrm>
            <a:off x="5806440" y="2176272"/>
            <a:ext cx="2395728" cy="749808"/>
          </a:xfrm>
          <a:prstGeom prst="roundRect">
            <a:avLst>
              <a:gd name="adj" fmla="val 10976"/>
            </a:avLst>
          </a:prstGeom>
          <a:solidFill>
            <a:srgbClr val="171B20"/>
          </a:solidFill>
          <a:ln w="12700">
            <a:solidFill>
              <a:srgbClr val="2A333A"/>
            </a:solidFill>
            <a:prstDash val="solid"/>
          </a:ln>
        </p:spPr>
      </p:sp>
      <p:pic>
        <p:nvPicPr>
          <p:cNvPr id="13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16168" y="2304288"/>
            <a:ext cx="384048" cy="384048"/>
          </a:xfrm>
          <a:prstGeom prst="rect">
            <a:avLst/>
          </a:prstGeom>
        </p:spPr>
      </p:pic>
      <p:sp>
        <p:nvSpPr>
          <p:cNvPr id="131" name="Text 127"/>
          <p:cNvSpPr/>
          <p:nvPr/>
        </p:nvSpPr>
        <p:spPr>
          <a:xfrm>
            <a:off x="6419088" y="231343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A00"/>
                </a:solidFill>
              </a:rPr>
              <a:t>01</a:t>
            </a:r>
            <a:endParaRPr lang="en-US" sz="850" dirty="0"/>
          </a:p>
        </p:txBody>
      </p:sp>
      <p:sp>
        <p:nvSpPr>
          <p:cNvPr id="132" name="Text 128"/>
          <p:cNvSpPr/>
          <p:nvPr/>
        </p:nvSpPr>
        <p:spPr>
          <a:xfrm>
            <a:off x="6693408" y="2304288"/>
            <a:ext cx="11704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F7F3ED"/>
                </a:solidFill>
              </a:rPr>
              <a:t>Empty space</a:t>
            </a:r>
            <a:endParaRPr lang="en-US" sz="1030" dirty="0"/>
          </a:p>
        </p:txBody>
      </p:sp>
      <p:sp>
        <p:nvSpPr>
          <p:cNvPr id="133" name="Text 129"/>
          <p:cNvSpPr/>
          <p:nvPr/>
        </p:nvSpPr>
        <p:spPr>
          <a:xfrm>
            <a:off x="6693408" y="2569464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AEB5B2"/>
                </a:solidFill>
              </a:rPr>
              <a:t>desktop · workspace</a:t>
            </a:r>
            <a:endParaRPr lang="en-US" sz="670" dirty="0"/>
          </a:p>
        </p:txBody>
      </p:sp>
      <p:sp>
        <p:nvSpPr>
          <p:cNvPr id="134" name="Shape 130"/>
          <p:cNvSpPr/>
          <p:nvPr/>
        </p:nvSpPr>
        <p:spPr>
          <a:xfrm>
            <a:off x="8549640" y="2176272"/>
            <a:ext cx="2395728" cy="749808"/>
          </a:xfrm>
          <a:prstGeom prst="roundRect">
            <a:avLst>
              <a:gd name="adj" fmla="val 10976"/>
            </a:avLst>
          </a:prstGeom>
          <a:solidFill>
            <a:srgbClr val="171B20"/>
          </a:solidFill>
          <a:ln w="12700">
            <a:solidFill>
              <a:srgbClr val="2A333A"/>
            </a:solidFill>
            <a:prstDash val="solid"/>
          </a:ln>
        </p:spPr>
      </p:sp>
      <p:pic>
        <p:nvPicPr>
          <p:cNvPr id="13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59368" y="2304288"/>
            <a:ext cx="384048" cy="384048"/>
          </a:xfrm>
          <a:prstGeom prst="rect">
            <a:avLst/>
          </a:prstGeom>
        </p:spPr>
      </p:pic>
      <p:sp>
        <p:nvSpPr>
          <p:cNvPr id="136" name="Text 131"/>
          <p:cNvSpPr/>
          <p:nvPr/>
        </p:nvSpPr>
        <p:spPr>
          <a:xfrm>
            <a:off x="9162288" y="231343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A00"/>
                </a:solidFill>
              </a:rPr>
              <a:t>02</a:t>
            </a:r>
            <a:endParaRPr lang="en-US" sz="850" dirty="0"/>
          </a:p>
        </p:txBody>
      </p:sp>
      <p:sp>
        <p:nvSpPr>
          <p:cNvPr id="137" name="Text 132"/>
          <p:cNvSpPr/>
          <p:nvPr/>
        </p:nvSpPr>
        <p:spPr>
          <a:xfrm>
            <a:off x="9436608" y="2304288"/>
            <a:ext cx="11704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F7F3ED"/>
                </a:solidFill>
              </a:rPr>
              <a:t>Widget</a:t>
            </a:r>
            <a:endParaRPr lang="en-US" sz="1030" dirty="0"/>
          </a:p>
        </p:txBody>
      </p:sp>
      <p:sp>
        <p:nvSpPr>
          <p:cNvPr id="138" name="Text 133"/>
          <p:cNvSpPr/>
          <p:nvPr/>
        </p:nvSpPr>
        <p:spPr>
          <a:xfrm>
            <a:off x="9436608" y="2569464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AEB5B2"/>
                </a:solidFill>
              </a:rPr>
              <a:t>configure · pin · remove</a:t>
            </a:r>
            <a:endParaRPr lang="en-US" sz="670" dirty="0"/>
          </a:p>
        </p:txBody>
      </p:sp>
      <p:sp>
        <p:nvSpPr>
          <p:cNvPr id="139" name="Shape 134"/>
          <p:cNvSpPr/>
          <p:nvPr/>
        </p:nvSpPr>
        <p:spPr>
          <a:xfrm>
            <a:off x="5806440" y="3145536"/>
            <a:ext cx="2395728" cy="749808"/>
          </a:xfrm>
          <a:prstGeom prst="roundRect">
            <a:avLst>
              <a:gd name="adj" fmla="val 10976"/>
            </a:avLst>
          </a:prstGeom>
          <a:solidFill>
            <a:srgbClr val="171B20"/>
          </a:solidFill>
          <a:ln w="12700">
            <a:solidFill>
              <a:srgbClr val="2A333A"/>
            </a:solidFill>
            <a:prstDash val="solid"/>
          </a:ln>
        </p:spPr>
      </p:sp>
      <p:pic>
        <p:nvPicPr>
          <p:cNvPr id="14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16168" y="3273552"/>
            <a:ext cx="384048" cy="384048"/>
          </a:xfrm>
          <a:prstGeom prst="rect">
            <a:avLst/>
          </a:prstGeom>
        </p:spPr>
      </p:pic>
      <p:sp>
        <p:nvSpPr>
          <p:cNvPr id="141" name="Text 135"/>
          <p:cNvSpPr/>
          <p:nvPr/>
        </p:nvSpPr>
        <p:spPr>
          <a:xfrm>
            <a:off x="6419088" y="3282696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A00"/>
                </a:solidFill>
              </a:rPr>
              <a:t>03</a:t>
            </a:r>
            <a:endParaRPr lang="en-US" sz="850" dirty="0"/>
          </a:p>
        </p:txBody>
      </p:sp>
      <p:sp>
        <p:nvSpPr>
          <p:cNvPr id="142" name="Text 136"/>
          <p:cNvSpPr/>
          <p:nvPr/>
        </p:nvSpPr>
        <p:spPr>
          <a:xfrm>
            <a:off x="6693408" y="3273552"/>
            <a:ext cx="11704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F7F3ED"/>
                </a:solidFill>
              </a:rPr>
              <a:t>Window</a:t>
            </a:r>
            <a:endParaRPr lang="en-US" sz="1030" dirty="0"/>
          </a:p>
        </p:txBody>
      </p:sp>
      <p:sp>
        <p:nvSpPr>
          <p:cNvPr id="143" name="Text 137"/>
          <p:cNvSpPr/>
          <p:nvPr/>
        </p:nvSpPr>
        <p:spPr>
          <a:xfrm>
            <a:off x="6693408" y="3538728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AEB5B2"/>
                </a:solidFill>
              </a:rPr>
              <a:t>tile · float · move</a:t>
            </a:r>
            <a:endParaRPr lang="en-US" sz="670" dirty="0"/>
          </a:p>
        </p:txBody>
      </p:sp>
      <p:sp>
        <p:nvSpPr>
          <p:cNvPr id="144" name="Shape 138"/>
          <p:cNvSpPr/>
          <p:nvPr/>
        </p:nvSpPr>
        <p:spPr>
          <a:xfrm>
            <a:off x="8549640" y="3145536"/>
            <a:ext cx="2395728" cy="749808"/>
          </a:xfrm>
          <a:prstGeom prst="roundRect">
            <a:avLst>
              <a:gd name="adj" fmla="val 10976"/>
            </a:avLst>
          </a:prstGeom>
          <a:solidFill>
            <a:srgbClr val="171B20"/>
          </a:solidFill>
          <a:ln w="12700">
            <a:solidFill>
              <a:srgbClr val="2A333A"/>
            </a:solidFill>
            <a:prstDash val="solid"/>
          </a:ln>
        </p:spPr>
      </p:sp>
      <p:pic>
        <p:nvPicPr>
          <p:cNvPr id="14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59368" y="3273552"/>
            <a:ext cx="384048" cy="384048"/>
          </a:xfrm>
          <a:prstGeom prst="rect">
            <a:avLst/>
          </a:prstGeom>
        </p:spPr>
      </p:pic>
      <p:sp>
        <p:nvSpPr>
          <p:cNvPr id="146" name="Text 139"/>
          <p:cNvSpPr/>
          <p:nvPr/>
        </p:nvSpPr>
        <p:spPr>
          <a:xfrm>
            <a:off x="9162288" y="3282696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A00"/>
                </a:solidFill>
              </a:rPr>
              <a:t>04</a:t>
            </a:r>
            <a:endParaRPr lang="en-US" sz="850" dirty="0"/>
          </a:p>
        </p:txBody>
      </p:sp>
      <p:sp>
        <p:nvSpPr>
          <p:cNvPr id="147" name="Text 140"/>
          <p:cNvSpPr/>
          <p:nvPr/>
        </p:nvSpPr>
        <p:spPr>
          <a:xfrm>
            <a:off x="9436608" y="3273552"/>
            <a:ext cx="11704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F7F3ED"/>
                </a:solidFill>
              </a:rPr>
              <a:t>Nested</a:t>
            </a:r>
            <a:endParaRPr lang="en-US" sz="1030" dirty="0"/>
          </a:p>
        </p:txBody>
      </p:sp>
      <p:sp>
        <p:nvSpPr>
          <p:cNvPr id="148" name="Text 141"/>
          <p:cNvSpPr/>
          <p:nvPr/>
        </p:nvSpPr>
        <p:spPr>
          <a:xfrm>
            <a:off x="9436608" y="3538728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AEB5B2"/>
                </a:solidFill>
              </a:rPr>
              <a:t>presets · themes · animations</a:t>
            </a:r>
            <a:endParaRPr lang="en-US" sz="670" dirty="0"/>
          </a:p>
        </p:txBody>
      </p:sp>
      <p:sp>
        <p:nvSpPr>
          <p:cNvPr id="149" name="Shape 142"/>
          <p:cNvSpPr/>
          <p:nvPr/>
        </p:nvSpPr>
        <p:spPr>
          <a:xfrm>
            <a:off x="5806440" y="4114800"/>
            <a:ext cx="2395728" cy="749808"/>
          </a:xfrm>
          <a:prstGeom prst="roundRect">
            <a:avLst>
              <a:gd name="adj" fmla="val 10976"/>
            </a:avLst>
          </a:prstGeom>
          <a:solidFill>
            <a:srgbClr val="171B20"/>
          </a:solidFill>
          <a:ln w="12700">
            <a:solidFill>
              <a:srgbClr val="2A333A"/>
            </a:solidFill>
            <a:prstDash val="solid"/>
          </a:ln>
        </p:spPr>
      </p:sp>
      <p:pic>
        <p:nvPicPr>
          <p:cNvPr id="15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916168" y="4242816"/>
            <a:ext cx="384048" cy="384048"/>
          </a:xfrm>
          <a:prstGeom prst="rect">
            <a:avLst/>
          </a:prstGeom>
        </p:spPr>
      </p:pic>
      <p:sp>
        <p:nvSpPr>
          <p:cNvPr id="151" name="Text 143"/>
          <p:cNvSpPr/>
          <p:nvPr/>
        </p:nvSpPr>
        <p:spPr>
          <a:xfrm>
            <a:off x="6419088" y="4251960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A00"/>
                </a:solidFill>
              </a:rPr>
              <a:t>05</a:t>
            </a:r>
            <a:endParaRPr lang="en-US" sz="850" dirty="0"/>
          </a:p>
        </p:txBody>
      </p:sp>
      <p:sp>
        <p:nvSpPr>
          <p:cNvPr id="152" name="Text 144"/>
          <p:cNvSpPr/>
          <p:nvPr/>
        </p:nvSpPr>
        <p:spPr>
          <a:xfrm>
            <a:off x="6693408" y="4242816"/>
            <a:ext cx="11704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F7F3ED"/>
                </a:solidFill>
              </a:rPr>
              <a:t>Tray</a:t>
            </a:r>
            <a:endParaRPr lang="en-US" sz="1030" dirty="0"/>
          </a:p>
        </p:txBody>
      </p:sp>
      <p:sp>
        <p:nvSpPr>
          <p:cNvPr id="153" name="Text 145"/>
          <p:cNvSpPr/>
          <p:nvPr/>
        </p:nvSpPr>
        <p:spPr>
          <a:xfrm>
            <a:off x="6693408" y="4507992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AEB5B2"/>
                </a:solidFill>
              </a:rPr>
              <a:t>audio · network · power</a:t>
            </a:r>
            <a:endParaRPr lang="en-US" sz="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7F8A87"/>
                </a:solidFill>
                <a:latin typeface="Sora"/>
                <a:ea typeface="Sora"/>
                <a:cs typeface="Sora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36118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40233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3200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7315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6118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40233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27889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3000" y="32004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3000" y="60807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54480" y="27889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54480" y="32004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54480" y="60807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65960" y="19659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65960" y="23774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65960" y="52578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65960" y="56692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19659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7440" y="23774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77440" y="52578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77440" y="56692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88920" y="11430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88920" y="15544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88920" y="44348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88920" y="48463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11430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15544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44348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0" y="48463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11880" y="3200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11880" y="7315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11880" y="36118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11880" y="40233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23360" y="3200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23360" y="7315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023360" y="36118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023360" y="40233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34840" y="27889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34840" y="32004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34840" y="60807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46320" y="27889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46320" y="32004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46320" y="60807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257800" y="19659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257800" y="23774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257800" y="52578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257800" y="56692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669280" y="19659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669280" y="23774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669280" y="52578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669280" y="56692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080760" y="11430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080760" y="15544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080760" y="44348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080760" y="48463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92240" y="11430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492240" y="15544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492240" y="44348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492240" y="48463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903720" y="3200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903720" y="7315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903720" y="36118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903720" y="40233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315200" y="3200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315200" y="7315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315200" y="36118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315200" y="40233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726680" y="27889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726680" y="32004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26680" y="60807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138160" y="27889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138160" y="32004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138160" y="60807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549640" y="19659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549640" y="23774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549640" y="52578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549640" y="56692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961120" y="19659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961120" y="23774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961120" y="52578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961120" y="56692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372600" y="19659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372600" y="23774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372600" y="52578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372600" y="56692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784080" y="11430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784080" y="15544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784080" y="44348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784080" y="48463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195560" y="11430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195560" y="15544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0195560" y="44348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0195560" y="48463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0607040" y="3200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0607040" y="7315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0607040" y="36118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607040" y="40233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1018520" y="32004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1018520" y="7315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1018520" y="361188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1018520" y="40233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1430000" y="27889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1430000" y="32004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1430000" y="60807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1841480" y="278892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1841480" y="320040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1841480" y="6080760"/>
            <a:ext cx="13716" cy="13716"/>
          </a:xfrm>
          <a:prstGeom prst="ellipse">
            <a:avLst/>
          </a:prstGeom>
          <a:solidFill>
            <a:srgbClr val="111418">
              <a:alpha val="12000"/>
            </a:srgbClr>
          </a:solidFill>
          <a:ln w="12700">
            <a:solidFill>
              <a:srgbClr val="111418">
                <a:alpha val="0"/>
              </a:srgbClr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58368" y="5303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6A0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VISUAL TOKENS</a:t>
            </a:r>
            <a:endParaRPr lang="en-US" sz="750" dirty="0"/>
          </a:p>
        </p:txBody>
      </p:sp>
      <p:sp>
        <p:nvSpPr>
          <p:cNvPr id="111" name="Text 109"/>
          <p:cNvSpPr/>
          <p:nvPr/>
        </p:nvSpPr>
        <p:spPr>
          <a:xfrm>
            <a:off x="640080" y="786384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41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Atomic-age warmth, terminal-grade clarity</a:t>
            </a:r>
            <a:endParaRPr lang="en-US" sz="3200" dirty="0"/>
          </a:p>
        </p:txBody>
      </p:sp>
      <p:sp>
        <p:nvSpPr>
          <p:cNvPr id="112" name="Text 110"/>
          <p:cNvSpPr/>
          <p:nvPr/>
        </p:nvSpPr>
        <p:spPr>
          <a:xfrm>
            <a:off x="640080" y="1536192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8626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Flat enough for UI, dimensional enough to feel alive. Thick lines, explicit face, orange shell, green beret, cream-white prompt glyph.</a:t>
            </a:r>
            <a:endParaRPr lang="en-US" sz="1200" dirty="0"/>
          </a:p>
        </p:txBody>
      </p:sp>
      <p:sp>
        <p:nvSpPr>
          <p:cNvPr id="113" name="Shape 111"/>
          <p:cNvSpPr/>
          <p:nvPr/>
        </p:nvSpPr>
        <p:spPr>
          <a:xfrm>
            <a:off x="749808" y="2441448"/>
            <a:ext cx="2395728" cy="2560320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87552" y="2743200"/>
            <a:ext cx="1097280" cy="1097280"/>
          </a:xfrm>
          <a:prstGeom prst="roundRect">
            <a:avLst>
              <a:gd name="adj" fmla="val 6667"/>
            </a:avLst>
          </a:prstGeom>
          <a:solidFill>
            <a:srgbClr val="111418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987552" y="4096512"/>
            <a:ext cx="1737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418"/>
                </a:solidFill>
              </a:rPr>
              <a:t>Anthracite</a:t>
            </a:r>
            <a:endParaRPr lang="en-US" sz="1050" dirty="0"/>
          </a:p>
        </p:txBody>
      </p:sp>
      <p:sp>
        <p:nvSpPr>
          <p:cNvPr id="116" name="Text 114"/>
          <p:cNvSpPr/>
          <p:nvPr/>
        </p:nvSpPr>
        <p:spPr>
          <a:xfrm>
            <a:off x="987552" y="434340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86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#111418</a:t>
            </a:r>
            <a:endParaRPr lang="en-US" sz="750" dirty="0"/>
          </a:p>
        </p:txBody>
      </p:sp>
      <p:sp>
        <p:nvSpPr>
          <p:cNvPr id="117" name="Text 115"/>
          <p:cNvSpPr/>
          <p:nvPr/>
        </p:nvSpPr>
        <p:spPr>
          <a:xfrm>
            <a:off x="987552" y="4590288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86260"/>
                </a:solidFill>
              </a:rPr>
              <a:t>console face / ink</a:t>
            </a:r>
            <a:endParaRPr lang="en-US" sz="720" dirty="0"/>
          </a:p>
        </p:txBody>
      </p:sp>
      <p:sp>
        <p:nvSpPr>
          <p:cNvPr id="118" name="Shape 116"/>
          <p:cNvSpPr/>
          <p:nvPr/>
        </p:nvSpPr>
        <p:spPr>
          <a:xfrm>
            <a:off x="3584448" y="2441448"/>
            <a:ext cx="2395728" cy="2560320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822192" y="2743200"/>
            <a:ext cx="1097280" cy="1097280"/>
          </a:xfrm>
          <a:prstGeom prst="roundRect">
            <a:avLst>
              <a:gd name="adj" fmla="val 6667"/>
            </a:avLst>
          </a:prstGeom>
          <a:solidFill>
            <a:srgbClr val="FF6A00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3822192" y="4096512"/>
            <a:ext cx="1737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418"/>
                </a:solidFill>
              </a:rPr>
              <a:t>Signal Orange</a:t>
            </a:r>
            <a:endParaRPr lang="en-US" sz="1050" dirty="0"/>
          </a:p>
        </p:txBody>
      </p:sp>
      <p:sp>
        <p:nvSpPr>
          <p:cNvPr id="121" name="Text 119"/>
          <p:cNvSpPr/>
          <p:nvPr/>
        </p:nvSpPr>
        <p:spPr>
          <a:xfrm>
            <a:off x="3822192" y="434340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86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#FF6A00</a:t>
            </a:r>
            <a:endParaRPr lang="en-US" sz="750" dirty="0"/>
          </a:p>
        </p:txBody>
      </p:sp>
      <p:sp>
        <p:nvSpPr>
          <p:cNvPr id="122" name="Text 120"/>
          <p:cNvSpPr/>
          <p:nvPr/>
        </p:nvSpPr>
        <p:spPr>
          <a:xfrm>
            <a:off x="3822192" y="4590288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86260"/>
                </a:solidFill>
              </a:rPr>
              <a:t>shell body / hot action</a:t>
            </a:r>
            <a:endParaRPr lang="en-US" sz="720" dirty="0"/>
          </a:p>
        </p:txBody>
      </p:sp>
      <p:sp>
        <p:nvSpPr>
          <p:cNvPr id="123" name="Shape 121"/>
          <p:cNvSpPr/>
          <p:nvPr/>
        </p:nvSpPr>
        <p:spPr>
          <a:xfrm>
            <a:off x="6419088" y="2441448"/>
            <a:ext cx="2395728" cy="2560320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656832" y="2743200"/>
            <a:ext cx="1097280" cy="1097280"/>
          </a:xfrm>
          <a:prstGeom prst="roundRect">
            <a:avLst>
              <a:gd name="adj" fmla="val 6667"/>
            </a:avLst>
          </a:prstGeom>
          <a:solidFill>
            <a:srgbClr val="5F7F52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6656832" y="4096512"/>
            <a:ext cx="1737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418"/>
                </a:solidFill>
              </a:rPr>
              <a:t>Beret Green</a:t>
            </a:r>
            <a:endParaRPr lang="en-US" sz="1050" dirty="0"/>
          </a:p>
        </p:txBody>
      </p:sp>
      <p:sp>
        <p:nvSpPr>
          <p:cNvPr id="126" name="Text 124"/>
          <p:cNvSpPr/>
          <p:nvPr/>
        </p:nvSpPr>
        <p:spPr>
          <a:xfrm>
            <a:off x="6656832" y="434340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86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#5F7F52</a:t>
            </a:r>
            <a:endParaRPr lang="en-US" sz="750" dirty="0"/>
          </a:p>
        </p:txBody>
      </p:sp>
      <p:sp>
        <p:nvSpPr>
          <p:cNvPr id="127" name="Text 125"/>
          <p:cNvSpPr/>
          <p:nvPr/>
        </p:nvSpPr>
        <p:spPr>
          <a:xfrm>
            <a:off x="6656832" y="4590288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86260"/>
                </a:solidFill>
              </a:rPr>
              <a:t>mascot identity</a:t>
            </a:r>
            <a:endParaRPr lang="en-US" sz="720" dirty="0"/>
          </a:p>
        </p:txBody>
      </p:sp>
      <p:sp>
        <p:nvSpPr>
          <p:cNvPr id="128" name="Shape 126"/>
          <p:cNvSpPr/>
          <p:nvPr/>
        </p:nvSpPr>
        <p:spPr>
          <a:xfrm>
            <a:off x="9253728" y="2441448"/>
            <a:ext cx="2395728" cy="2560320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9491472" y="2743200"/>
            <a:ext cx="1097280" cy="1097280"/>
          </a:xfrm>
          <a:prstGeom prst="roundRect">
            <a:avLst>
              <a:gd name="adj" fmla="val 6667"/>
            </a:avLst>
          </a:prstGeom>
          <a:solidFill>
            <a:srgbClr val="F7F3ED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9491472" y="4096512"/>
            <a:ext cx="1737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418"/>
                </a:solidFill>
              </a:rPr>
              <a:t>Shell White</a:t>
            </a:r>
            <a:endParaRPr lang="en-US" sz="1050" dirty="0"/>
          </a:p>
        </p:txBody>
      </p:sp>
      <p:sp>
        <p:nvSpPr>
          <p:cNvPr id="131" name="Text 129"/>
          <p:cNvSpPr/>
          <p:nvPr/>
        </p:nvSpPr>
        <p:spPr>
          <a:xfrm>
            <a:off x="9491472" y="434340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862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#F7F3ED</a:t>
            </a:r>
            <a:endParaRPr lang="en-US" sz="750" dirty="0"/>
          </a:p>
        </p:txBody>
      </p:sp>
      <p:sp>
        <p:nvSpPr>
          <p:cNvPr id="132" name="Text 130"/>
          <p:cNvSpPr/>
          <p:nvPr/>
        </p:nvSpPr>
        <p:spPr>
          <a:xfrm>
            <a:off x="9491472" y="4590288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86260"/>
                </a:solidFill>
              </a:rPr>
              <a:t>prompt / paper / light UI</a:t>
            </a:r>
            <a:endParaRPr lang="en-US" sz="720" dirty="0"/>
          </a:p>
        </p:txBody>
      </p:sp>
      <p:pic>
        <p:nvPicPr>
          <p:cNvPr id="13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30384" y="5138928"/>
            <a:ext cx="658368" cy="65836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7F8A87"/>
                </a:solidFill>
                <a:latin typeface="Sora"/>
                <a:ea typeface="Sora"/>
                <a:cs typeface="Sora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36118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40233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3200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7315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6118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40233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27889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3000" y="32004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3000" y="60807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54480" y="27889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54480" y="32004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54480" y="60807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65960" y="19659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65960" y="23774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65960" y="52578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65960" y="56692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19659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7440" y="23774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77440" y="52578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77440" y="56692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88920" y="11430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88920" y="15544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88920" y="44348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88920" y="48463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11430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15544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44348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0" y="48463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11880" y="3200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11880" y="7315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11880" y="36118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11880" y="40233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23360" y="3200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23360" y="7315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023360" y="36118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023360" y="40233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34840" y="27889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34840" y="32004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34840" y="60807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46320" y="27889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46320" y="32004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46320" y="60807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257800" y="19659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257800" y="23774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257800" y="52578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257800" y="56692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669280" y="19659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669280" y="23774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669280" y="52578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669280" y="56692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080760" y="11430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080760" y="15544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080760" y="44348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080760" y="48463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92240" y="11430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492240" y="15544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492240" y="44348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492240" y="48463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903720" y="3200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903720" y="7315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903720" y="36118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903720" y="40233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315200" y="3200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315200" y="7315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315200" y="36118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315200" y="40233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726680" y="27889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726680" y="32004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26680" y="60807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138160" y="27889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138160" y="32004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138160" y="60807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549640" y="19659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549640" y="23774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549640" y="52578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549640" y="56692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961120" y="19659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961120" y="23774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961120" y="52578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961120" y="56692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372600" y="19659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372600" y="23774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372600" y="52578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372600" y="56692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784080" y="11430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784080" y="15544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784080" y="44348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784080" y="48463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195560" y="11430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195560" y="15544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0195560" y="44348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0195560" y="48463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0607040" y="3200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0607040" y="7315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0607040" y="36118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607040" y="40233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1018520" y="32004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1018520" y="7315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1018520" y="361188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1018520" y="40233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1430000" y="27889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1430000" y="32004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1430000" y="60807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1841480" y="278892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1841480" y="320040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1841480" y="6080760"/>
            <a:ext cx="13716" cy="13716"/>
          </a:xfrm>
          <a:prstGeom prst="ellipse">
            <a:avLst/>
          </a:prstGeom>
          <a:solidFill>
            <a:srgbClr val="F7F3ED">
              <a:alpha val="12000"/>
            </a:srgbClr>
          </a:solidFill>
          <a:ln w="12700">
            <a:solidFill>
              <a:srgbClr val="F7F3ED">
                <a:alpha val="0"/>
              </a:srgbClr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58368" y="5303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6A0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PREVIEW SHARING</a:t>
            </a:r>
            <a:endParaRPr lang="en-US" sz="750" dirty="0"/>
          </a:p>
        </p:txBody>
      </p:sp>
      <p:sp>
        <p:nvSpPr>
          <p:cNvPr id="111" name="Text 109"/>
          <p:cNvSpPr/>
          <p:nvPr/>
        </p:nvSpPr>
        <p:spPr>
          <a:xfrm>
            <a:off x="640080" y="786384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7F3E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One HTML file, no asset folder required</a:t>
            </a:r>
            <a:endParaRPr lang="en-US" sz="3400" dirty="0"/>
          </a:p>
        </p:txBody>
      </p:sp>
      <p:sp>
        <p:nvSpPr>
          <p:cNvPr id="112" name="Text 110"/>
          <p:cNvSpPr/>
          <p:nvPr/>
        </p:nvSpPr>
        <p:spPr>
          <a:xfrm>
            <a:off x="640080" y="153619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B5B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live preview embeds the main SVG and mini Sys.ter SVGs directly as data URIs. Drag it to a static host and share the link.</a:t>
            </a:r>
            <a:endParaRPr lang="en-US" sz="1200" dirty="0"/>
          </a:p>
        </p:txBody>
      </p:sp>
      <p:sp>
        <p:nvSpPr>
          <p:cNvPr id="113" name="Shape 111"/>
          <p:cNvSpPr/>
          <p:nvPr/>
        </p:nvSpPr>
        <p:spPr>
          <a:xfrm>
            <a:off x="749808" y="2331720"/>
            <a:ext cx="3657600" cy="2880360"/>
          </a:xfrm>
          <a:prstGeom prst="roundRect">
            <a:avLst>
              <a:gd name="adj" fmla="val 2857"/>
            </a:avLst>
          </a:prstGeom>
          <a:solidFill>
            <a:srgbClr val="0B0D0E"/>
          </a:solidFill>
          <a:ln w="12700">
            <a:solidFill>
              <a:srgbClr val="2A333A"/>
            </a:solidFill>
            <a:prstDash val="solid"/>
          </a:ln>
        </p:spPr>
      </p:sp>
      <p:pic>
        <p:nvPicPr>
          <p:cNvPr id="1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568" y="2688336"/>
            <a:ext cx="960120" cy="960120"/>
          </a:xfrm>
          <a:prstGeom prst="rect">
            <a:avLst/>
          </a:prstGeom>
        </p:spPr>
      </p:pic>
      <p:sp>
        <p:nvSpPr>
          <p:cNvPr id="115" name="Text 112"/>
          <p:cNvSpPr/>
          <p:nvPr/>
        </p:nvSpPr>
        <p:spPr>
          <a:xfrm>
            <a:off x="2286000" y="290779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7F3ED"/>
                </a:solidFill>
              </a:rPr>
              <a:t>Local preview file</a:t>
            </a:r>
            <a:endParaRPr lang="en-US" sz="1250" dirty="0"/>
          </a:p>
        </p:txBody>
      </p:sp>
      <p:sp>
        <p:nvSpPr>
          <p:cNvPr id="116" name="Text 113"/>
          <p:cNvSpPr/>
          <p:nvPr/>
        </p:nvSpPr>
        <p:spPr>
          <a:xfrm>
            <a:off x="2286000" y="3246120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AEB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gnu-in-shell-preview-single-v3.html</a:t>
            </a:r>
            <a:endParaRPr lang="en-US" sz="720" dirty="0"/>
          </a:p>
        </p:txBody>
      </p:sp>
      <p:sp>
        <p:nvSpPr>
          <p:cNvPr id="117" name="Shape 114"/>
          <p:cNvSpPr/>
          <p:nvPr/>
        </p:nvSpPr>
        <p:spPr>
          <a:xfrm>
            <a:off x="1133856" y="3895344"/>
            <a:ext cx="73152" cy="73152"/>
          </a:xfrm>
          <a:prstGeom prst="ellipse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118" name="Text 115"/>
          <p:cNvSpPr/>
          <p:nvPr/>
        </p:nvSpPr>
        <p:spPr>
          <a:xfrm>
            <a:off x="1280160" y="38221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7F3E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Open locally in a browser</a:t>
            </a:r>
            <a:endParaRPr lang="en-US" sz="1050" dirty="0"/>
          </a:p>
        </p:txBody>
      </p:sp>
      <p:sp>
        <p:nvSpPr>
          <p:cNvPr id="119" name="Shape 116"/>
          <p:cNvSpPr/>
          <p:nvPr/>
        </p:nvSpPr>
        <p:spPr>
          <a:xfrm>
            <a:off x="1133856" y="4297680"/>
            <a:ext cx="73152" cy="73152"/>
          </a:xfrm>
          <a:prstGeom prst="ellipse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120" name="Text 117"/>
          <p:cNvSpPr/>
          <p:nvPr/>
        </p:nvSpPr>
        <p:spPr>
          <a:xfrm>
            <a:off x="1280160" y="42245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7F3E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Drop onto Netlify Drop / Cloudflare Pages / GitHub Pages</a:t>
            </a:r>
            <a:endParaRPr lang="en-US" sz="1050" dirty="0"/>
          </a:p>
        </p:txBody>
      </p:sp>
      <p:sp>
        <p:nvSpPr>
          <p:cNvPr id="121" name="Shape 118"/>
          <p:cNvSpPr/>
          <p:nvPr/>
        </p:nvSpPr>
        <p:spPr>
          <a:xfrm>
            <a:off x="1133856" y="4700016"/>
            <a:ext cx="73152" cy="73152"/>
          </a:xfrm>
          <a:prstGeom prst="ellipse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122" name="Text 119"/>
          <p:cNvSpPr/>
          <p:nvPr/>
        </p:nvSpPr>
        <p:spPr>
          <a:xfrm>
            <a:off x="1280160" y="462686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7F3E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Send the public link to collaborators</a:t>
            </a:r>
            <a:endParaRPr lang="en-US" sz="1050" dirty="0"/>
          </a:p>
        </p:txBody>
      </p:sp>
      <p:sp>
        <p:nvSpPr>
          <p:cNvPr id="123" name="Shape 120"/>
          <p:cNvSpPr/>
          <p:nvPr/>
        </p:nvSpPr>
        <p:spPr>
          <a:xfrm>
            <a:off x="4773168" y="2331720"/>
            <a:ext cx="6510528" cy="2880360"/>
          </a:xfrm>
          <a:prstGeom prst="roundRect">
            <a:avLst>
              <a:gd name="adj" fmla="val 2857"/>
            </a:avLst>
          </a:prstGeom>
          <a:solidFill>
            <a:srgbClr val="171B20"/>
          </a:solidFill>
          <a:ln w="12700">
            <a:solidFill>
              <a:srgbClr val="2A333A"/>
            </a:solidFill>
            <a:prstDash val="solid"/>
          </a:ln>
        </p:spPr>
      </p:sp>
      <p:sp>
        <p:nvSpPr>
          <p:cNvPr id="124" name="Text 121"/>
          <p:cNvSpPr/>
          <p:nvPr/>
        </p:nvSpPr>
        <p:spPr>
          <a:xfrm>
            <a:off x="5120640" y="270662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A00"/>
                </a:solidFill>
              </a:rPr>
              <a:t>Artifact policy in this v3</a:t>
            </a:r>
            <a:endParaRPr lang="en-US" sz="1300" dirty="0"/>
          </a:p>
        </p:txBody>
      </p:sp>
      <p:sp>
        <p:nvSpPr>
          <p:cNvPr id="125" name="Shape 122"/>
          <p:cNvSpPr/>
          <p:nvPr/>
        </p:nvSpPr>
        <p:spPr>
          <a:xfrm>
            <a:off x="5120640" y="3319272"/>
            <a:ext cx="73152" cy="73152"/>
          </a:xfrm>
          <a:prstGeom prst="ellipse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126" name="Text 123"/>
          <p:cNvSpPr/>
          <p:nvPr/>
        </p:nvSpPr>
        <p:spPr>
          <a:xfrm>
            <a:off x="5266944" y="324612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7F3E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Main frames use the canonical master SVG you provided.</a:t>
            </a:r>
            <a:endParaRPr lang="en-US" sz="1150" dirty="0"/>
          </a:p>
        </p:txBody>
      </p:sp>
      <p:sp>
        <p:nvSpPr>
          <p:cNvPr id="127" name="Shape 124"/>
          <p:cNvSpPr/>
          <p:nvPr/>
        </p:nvSpPr>
        <p:spPr>
          <a:xfrm>
            <a:off x="5120640" y="3749040"/>
            <a:ext cx="73152" cy="73152"/>
          </a:xfrm>
          <a:prstGeom prst="ellipse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128" name="Text 125"/>
          <p:cNvSpPr/>
          <p:nvPr/>
        </p:nvSpPr>
        <p:spPr>
          <a:xfrm>
            <a:off x="5266944" y="367588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7F3E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Small frames use the mini Sys.ter light/dark/adaptive masters.</a:t>
            </a:r>
            <a:endParaRPr lang="en-US" sz="1150" dirty="0"/>
          </a:p>
        </p:txBody>
      </p:sp>
      <p:sp>
        <p:nvSpPr>
          <p:cNvPr id="129" name="Shape 126"/>
          <p:cNvSpPr/>
          <p:nvPr/>
        </p:nvSpPr>
        <p:spPr>
          <a:xfrm>
            <a:off x="5120640" y="4178808"/>
            <a:ext cx="73152" cy="73152"/>
          </a:xfrm>
          <a:prstGeom prst="ellipse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130" name="Text 127"/>
          <p:cNvSpPr/>
          <p:nvPr/>
        </p:nvSpPr>
        <p:spPr>
          <a:xfrm>
            <a:off x="5266944" y="4105656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7F3E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Legacy SVGs are not used as primary assets.</a:t>
            </a:r>
            <a:endParaRPr lang="en-US" sz="1150" dirty="0"/>
          </a:p>
        </p:txBody>
      </p:sp>
      <p:sp>
        <p:nvSpPr>
          <p:cNvPr id="131" name="Text 128"/>
          <p:cNvSpPr/>
          <p:nvPr/>
        </p:nvSpPr>
        <p:spPr>
          <a:xfrm>
            <a:off x="8302752" y="4736592"/>
            <a:ext cx="7735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7F3E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GNU</a:t>
            </a:r>
            <a:endParaRPr lang="en-US" sz="2300" dirty="0"/>
          </a:p>
        </p:txBody>
      </p:sp>
      <p:sp>
        <p:nvSpPr>
          <p:cNvPr id="132" name="Text 129"/>
          <p:cNvSpPr/>
          <p:nvPr/>
        </p:nvSpPr>
        <p:spPr>
          <a:xfrm>
            <a:off x="9065590" y="4736592"/>
            <a:ext cx="25786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6A0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6</a:t>
            </a:r>
            <a:endParaRPr lang="en-US" sz="2300" dirty="0"/>
          </a:p>
        </p:txBody>
      </p:sp>
      <p:sp>
        <p:nvSpPr>
          <p:cNvPr id="133" name="Text 130"/>
          <p:cNvSpPr/>
          <p:nvPr/>
        </p:nvSpPr>
        <p:spPr>
          <a:xfrm>
            <a:off x="9312707" y="4768596"/>
            <a:ext cx="10744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7F3E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-shell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7F8A87"/>
                </a:solidFill>
                <a:latin typeface="Sora"/>
                <a:ea typeface="Sora"/>
                <a:cs typeface="Sora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Gnu.in Labs Inc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Gnu.In-Shell · Brand System v3</dc:title>
  <dc:subject>Gnu.In-Shell brand system v3</dc:subject>
  <dc:creator>Gnu.in Labs Inc</dc:creator>
  <cp:lastModifiedBy>Gnu.in Labs Inc</cp:lastModifiedBy>
  <cp:revision>1</cp:revision>
  <dcterms:created xsi:type="dcterms:W3CDTF">2026-04-28T20:28:30Z</dcterms:created>
  <dcterms:modified xsi:type="dcterms:W3CDTF">2026-04-28T20:28:30Z</dcterms:modified>
</cp:coreProperties>
</file>